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2" r:id="rId7"/>
    <p:sldId id="265" r:id="rId8"/>
    <p:sldId id="267" r:id="rId9"/>
    <p:sldId id="268" r:id="rId10"/>
    <p:sldId id="266" r:id="rId11"/>
    <p:sldId id="263" r:id="rId12"/>
    <p:sldId id="270" r:id="rId13"/>
    <p:sldId id="264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51E04E-89FE-B122-AC03-CFE178AAB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FAA0A8-9FC1-1464-DE5E-15761750B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896D03-5A75-75F6-DDFC-F789DA01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2742C3-1A20-06BA-9B03-4357BD35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DC76B8-6F09-2365-98AA-5B3DFA8D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786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D6DC8E-8B9D-D103-8222-1B07693F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F14F9B-0E9F-D405-C139-AE9CDF63E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8B17D4-1BBA-0657-8A9A-2EE7C9CD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945135-EA9B-777E-DE33-8AF7F460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216356-357F-27B0-24B9-3C3CA2AE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60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D79A1-222C-AB2F-D598-50AAACCE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AB9909-AA2F-56E8-5F31-B9BA7818B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9B6C72-F947-3419-3DE8-8A0108BDD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4FC86A-0F34-55DE-03FF-B1B36F02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11C851-B70C-2E6B-BF00-3A869800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3338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741E3-4FB8-5EDD-E006-BA32FC53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A10D2B-15F5-A8DC-9AC4-B0928FD99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6B51CDB-7468-76B2-A9E2-6896AAD10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5F532D-E349-5C3F-FA45-08222E4D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1F0B5C-7E9D-5BEC-C3CA-21818C88E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9B5B58-7CBA-4556-CFA8-78C32366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8259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B2F706-C5DC-640C-A83B-0B69BD7D1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B7268B-F5CD-27EE-C449-AAB8BAC7B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D69E38-EFC4-61BA-CDA7-2B92B817F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C73EF8-A165-A82A-CF72-7221CED85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14E7602-4861-2E57-BCFF-30FC44C63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FFAAE40-E5A8-D713-E123-48688062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3E32B8B-20CC-350F-224B-B0E590E6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2395E4-B8C5-95B6-3426-6678A012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887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A595B2-0D28-E7DD-D894-D4D05852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62146E7-81DC-3A10-1F7B-76560A71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C3393E-7B01-547D-5DB1-C3135D55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E4904D-3CAA-CFFA-F587-A26B7858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333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61EDF5B-2253-487D-442F-120C59C99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E44C841-A74F-CDEB-0D1F-231179F8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9D6646-B6DD-1836-E055-1D80FC01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8483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B68D2A-CC57-2CB1-5EF3-3B4DD65D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E8CFE2-DDAA-7061-006B-CCEBF05EC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33E1D6-C9BE-96E2-E47D-7666CE3CE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3ABFC5-0199-5BB2-4A47-0CC2A540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362DB9-9309-E367-B328-01818835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ED1DF1-E8DF-1DDB-54B0-C492BC7B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3969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0850A9-E8B2-AAAE-8249-E4F7CAD2B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3E770B1-640D-F3A7-821F-B71679889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02FE49-5424-B8AE-C440-DD37030D8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BF68E9-5EA8-6F20-3B8D-7DE40A06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A5796B-78BC-4AD3-53D8-25D9B768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C9A756-7F06-B892-155A-13FA0438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653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76391-078F-034E-03AD-52B9166B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E7F1722-2579-14B5-1087-FC0578C9E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2304C7-29C3-77FF-418B-C3E4FDCF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EA35D2-8F14-D218-AF53-D0313DF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F3B630-53E2-CA20-5B42-46C7D7F0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660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B40D0D9-D480-5D78-67A4-CCB6DA3F2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16BE5D-5D04-6F82-A85B-96F0D160F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1053D9-DCDB-3B3D-2EED-AB0779AB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559E0D-6854-89C4-2D4A-254E86E5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87B0B4-E0C3-B078-513A-0955A385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076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C0B32EB-A8BE-95BF-38B2-3324E2E1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BB23FC-9769-FDB7-4303-F647163A6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02AF9D-1726-5D2A-9D3E-D6547FD2C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59F63-F004-4950-A834-219D89343451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98E42E-4DCF-64DD-EBED-5DAE29C60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BA9DD6-128C-AF90-07A1-D1ADBE00F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F208E-2BAE-4BB2-968C-EFF03EE1E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575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4A3C5CD-CDEB-33D1-F45F-661851812E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43861" cy="6858000"/>
          </a:xfrm>
          <a:prstGeom prst="rect">
            <a:avLst/>
          </a:prstGeom>
        </p:spPr>
      </p:pic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55243745-35F4-60F8-4933-9B7DB04AFBD3}"/>
              </a:ext>
            </a:extLst>
          </p:cNvPr>
          <p:cNvSpPr/>
          <p:nvPr/>
        </p:nvSpPr>
        <p:spPr>
          <a:xfrm>
            <a:off x="3832528" y="291548"/>
            <a:ext cx="668215" cy="1133061"/>
          </a:xfrm>
          <a:prstGeom prst="rightBrace">
            <a:avLst>
              <a:gd name="adj1" fmla="val 8333"/>
              <a:gd name="adj2" fmla="val 4864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705D6CF-CD25-1FC8-1742-B72DEA968007}"/>
              </a:ext>
            </a:extLst>
          </p:cNvPr>
          <p:cNvSpPr txBox="1"/>
          <p:nvPr/>
        </p:nvSpPr>
        <p:spPr>
          <a:xfrm>
            <a:off x="4658139" y="673412"/>
            <a:ext cx="4272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Lance à chaque push sur main ou master</a:t>
            </a:r>
          </a:p>
        </p:txBody>
      </p:sp>
      <p:sp>
        <p:nvSpPr>
          <p:cNvPr id="8" name="Accolade fermante 7">
            <a:extLst>
              <a:ext uri="{FF2B5EF4-FFF2-40B4-BE49-F238E27FC236}">
                <a16:creationId xmlns:a16="http://schemas.microsoft.com/office/drawing/2014/main" id="{7E36D125-DBAE-A8B7-BB4D-67B17B0A25E2}"/>
              </a:ext>
            </a:extLst>
          </p:cNvPr>
          <p:cNvSpPr/>
          <p:nvPr/>
        </p:nvSpPr>
        <p:spPr>
          <a:xfrm>
            <a:off x="3832528" y="1464366"/>
            <a:ext cx="668215" cy="1013791"/>
          </a:xfrm>
          <a:prstGeom prst="rightBrace">
            <a:avLst>
              <a:gd name="adj1" fmla="val 8333"/>
              <a:gd name="adj2" fmla="val 4864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22657B2-689C-68AA-7FB6-5E5ABD0C1C51}"/>
              </a:ext>
            </a:extLst>
          </p:cNvPr>
          <p:cNvSpPr txBox="1"/>
          <p:nvPr/>
        </p:nvSpPr>
        <p:spPr>
          <a:xfrm>
            <a:off x="4658139" y="1220526"/>
            <a:ext cx="5857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- contents: </a:t>
            </a:r>
            <a:r>
              <a:rPr lang="fr-FR" dirty="0" err="1"/>
              <a:t>read</a:t>
            </a:r>
            <a:r>
              <a:rPr lang="fr-FR" dirty="0"/>
              <a:t> : autorise la lecture du repo</a:t>
            </a:r>
          </a:p>
          <a:p>
            <a:r>
              <a:rPr lang="fr-FR" dirty="0"/>
              <a:t>- </a:t>
            </a:r>
            <a:r>
              <a:rPr lang="fr-FR" dirty="0" err="1"/>
              <a:t>security-events</a:t>
            </a:r>
            <a:r>
              <a:rPr lang="fr-FR" dirty="0"/>
              <a:t>: </a:t>
            </a:r>
            <a:r>
              <a:rPr lang="fr-FR" dirty="0" err="1"/>
              <a:t>write</a:t>
            </a:r>
            <a:r>
              <a:rPr lang="fr-FR" dirty="0"/>
              <a:t> :  nécessaire pour publier un rapport SARIF (résultats Trivy)</a:t>
            </a:r>
          </a:p>
          <a:p>
            <a:r>
              <a:rPr lang="fr-FR" dirty="0"/>
              <a:t>- actions: </a:t>
            </a:r>
            <a:r>
              <a:rPr lang="fr-FR" dirty="0" err="1"/>
              <a:t>read</a:t>
            </a:r>
            <a:r>
              <a:rPr lang="fr-FR" dirty="0"/>
              <a:t> :  lecture des actions GitHub utilisées</a:t>
            </a:r>
          </a:p>
        </p:txBody>
      </p:sp>
      <p:sp>
        <p:nvSpPr>
          <p:cNvPr id="13" name="Accolade fermante 12">
            <a:extLst>
              <a:ext uri="{FF2B5EF4-FFF2-40B4-BE49-F238E27FC236}">
                <a16:creationId xmlns:a16="http://schemas.microsoft.com/office/drawing/2014/main" id="{C99BACD8-BF6C-4928-313B-04DCA76793A8}"/>
              </a:ext>
            </a:extLst>
          </p:cNvPr>
          <p:cNvSpPr/>
          <p:nvPr/>
        </p:nvSpPr>
        <p:spPr>
          <a:xfrm>
            <a:off x="3832528" y="3147392"/>
            <a:ext cx="668215" cy="1013791"/>
          </a:xfrm>
          <a:prstGeom prst="rightBrace">
            <a:avLst>
              <a:gd name="adj1" fmla="val 8333"/>
              <a:gd name="adj2" fmla="val 4864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F9BFBC4-F571-BB14-75EA-6093F8F08D7F}"/>
              </a:ext>
            </a:extLst>
          </p:cNvPr>
          <p:cNvSpPr txBox="1"/>
          <p:nvPr/>
        </p:nvSpPr>
        <p:spPr>
          <a:xfrm>
            <a:off x="4658139" y="3469621"/>
            <a:ext cx="4678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Télécharge le repository dans la VM GitHub.</a:t>
            </a:r>
          </a:p>
        </p:txBody>
      </p:sp>
      <p:sp>
        <p:nvSpPr>
          <p:cNvPr id="16" name="Accolade fermante 15">
            <a:extLst>
              <a:ext uri="{FF2B5EF4-FFF2-40B4-BE49-F238E27FC236}">
                <a16:creationId xmlns:a16="http://schemas.microsoft.com/office/drawing/2014/main" id="{77A87CE1-F90B-96B9-3D77-AFEF391AC8A2}"/>
              </a:ext>
            </a:extLst>
          </p:cNvPr>
          <p:cNvSpPr/>
          <p:nvPr/>
        </p:nvSpPr>
        <p:spPr>
          <a:xfrm>
            <a:off x="3832528" y="4161183"/>
            <a:ext cx="668215" cy="1589377"/>
          </a:xfrm>
          <a:prstGeom prst="rightBrace">
            <a:avLst>
              <a:gd name="adj1" fmla="val 8333"/>
              <a:gd name="adj2" fmla="val 4864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C7B0E21-B73D-896F-C587-4EE1F6B298B7}"/>
              </a:ext>
            </a:extLst>
          </p:cNvPr>
          <p:cNvSpPr txBox="1"/>
          <p:nvPr/>
        </p:nvSpPr>
        <p:spPr>
          <a:xfrm>
            <a:off x="4608628" y="4078708"/>
            <a:ext cx="74004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Trivy scanne le système de fichiers du repo (pas l’image Docker)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scan-type: </a:t>
            </a:r>
            <a:r>
              <a:rPr lang="fr-FR" dirty="0" err="1"/>
              <a:t>fs</a:t>
            </a:r>
            <a:r>
              <a:rPr lang="fr-FR" dirty="0"/>
              <a:t> : scan du code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format: </a:t>
            </a:r>
            <a:r>
              <a:rPr lang="fr-FR" dirty="0" err="1"/>
              <a:t>sarif</a:t>
            </a:r>
            <a:r>
              <a:rPr lang="fr-FR" dirty="0"/>
              <a:t> : format compatible GitHub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output: </a:t>
            </a:r>
            <a:r>
              <a:rPr lang="fr-FR" dirty="0" err="1"/>
              <a:t>results.sarif</a:t>
            </a:r>
            <a:r>
              <a:rPr lang="fr-FR" dirty="0"/>
              <a:t> : fichier généré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severity</a:t>
            </a:r>
            <a:r>
              <a:rPr lang="fr-FR" dirty="0"/>
              <a:t>: HIGH,CRITICAL : ne garde que les vulnérabilités importantes</a:t>
            </a:r>
          </a:p>
        </p:txBody>
      </p:sp>
      <p:sp>
        <p:nvSpPr>
          <p:cNvPr id="19" name="Accolade fermante 18">
            <a:extLst>
              <a:ext uri="{FF2B5EF4-FFF2-40B4-BE49-F238E27FC236}">
                <a16:creationId xmlns:a16="http://schemas.microsoft.com/office/drawing/2014/main" id="{38E4B3E9-37E2-8FAF-6B52-5B4ABE2A6E76}"/>
              </a:ext>
            </a:extLst>
          </p:cNvPr>
          <p:cNvSpPr/>
          <p:nvPr/>
        </p:nvSpPr>
        <p:spPr>
          <a:xfrm>
            <a:off x="3832528" y="5943600"/>
            <a:ext cx="668215" cy="820751"/>
          </a:xfrm>
          <a:prstGeom prst="rightBrace">
            <a:avLst>
              <a:gd name="adj1" fmla="val 8333"/>
              <a:gd name="adj2" fmla="val 4864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B61CE52-D1BC-1067-C86D-33EA7106008F}"/>
              </a:ext>
            </a:extLst>
          </p:cNvPr>
          <p:cNvSpPr txBox="1"/>
          <p:nvPr/>
        </p:nvSpPr>
        <p:spPr>
          <a:xfrm>
            <a:off x="4658139" y="6123628"/>
            <a:ext cx="7076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Envoie les résultats dans Security</a:t>
            </a:r>
          </a:p>
        </p:txBody>
      </p:sp>
    </p:spTree>
    <p:extLst>
      <p:ext uri="{BB962C8B-B14F-4D97-AF65-F5344CB8AC3E}">
        <p14:creationId xmlns:p14="http://schemas.microsoft.com/office/powerpoint/2010/main" val="231964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4879ED3-1302-AB3B-4651-029215B8D4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4766" cy="6858000"/>
          </a:xfrm>
          <a:prstGeom prst="rect">
            <a:avLst/>
          </a:prstGeom>
        </p:spPr>
      </p:pic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FC940267-616D-21F1-0252-74EDE906E78C}"/>
              </a:ext>
            </a:extLst>
          </p:cNvPr>
          <p:cNvSpPr/>
          <p:nvPr/>
        </p:nvSpPr>
        <p:spPr>
          <a:xfrm>
            <a:off x="5124127" y="304800"/>
            <a:ext cx="556686" cy="2479040"/>
          </a:xfrm>
          <a:prstGeom prst="rightBrace">
            <a:avLst>
              <a:gd name="adj1" fmla="val 8333"/>
              <a:gd name="adj2" fmla="val 4864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B66CDF0-CDC4-CBD5-4482-B44B1B2EE9E0}"/>
              </a:ext>
            </a:extLst>
          </p:cNvPr>
          <p:cNvSpPr txBox="1"/>
          <p:nvPr/>
        </p:nvSpPr>
        <p:spPr>
          <a:xfrm>
            <a:off x="5796059" y="1359654"/>
            <a:ext cx="3510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Se lance que si MY-CI = </a:t>
            </a:r>
            <a:r>
              <a:rPr lang="fr-FR" dirty="0" err="1"/>
              <a:t>succes</a:t>
            </a:r>
            <a:endParaRPr lang="fr-FR" dirty="0"/>
          </a:p>
        </p:txBody>
      </p:sp>
      <p:sp>
        <p:nvSpPr>
          <p:cNvPr id="8" name="Accolade fermante 7">
            <a:extLst>
              <a:ext uri="{FF2B5EF4-FFF2-40B4-BE49-F238E27FC236}">
                <a16:creationId xmlns:a16="http://schemas.microsoft.com/office/drawing/2014/main" id="{3D59C33F-6AC0-4042-C07A-CFF8E72B8BEF}"/>
              </a:ext>
            </a:extLst>
          </p:cNvPr>
          <p:cNvSpPr/>
          <p:nvPr/>
        </p:nvSpPr>
        <p:spPr>
          <a:xfrm>
            <a:off x="5124127" y="2834641"/>
            <a:ext cx="556686" cy="944879"/>
          </a:xfrm>
          <a:prstGeom prst="rightBrace">
            <a:avLst>
              <a:gd name="adj1" fmla="val 8333"/>
              <a:gd name="adj2" fmla="val 4864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5F58F63-B7DD-D8FE-E4F3-FE7AE1AE31DE}"/>
              </a:ext>
            </a:extLst>
          </p:cNvPr>
          <p:cNvSpPr txBox="1"/>
          <p:nvPr/>
        </p:nvSpPr>
        <p:spPr>
          <a:xfrm>
            <a:off x="5796059" y="3122414"/>
            <a:ext cx="4638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Charge le code pour lancer l’image docker</a:t>
            </a:r>
          </a:p>
        </p:txBody>
      </p:sp>
      <p:sp>
        <p:nvSpPr>
          <p:cNvPr id="10" name="Accolade fermante 9">
            <a:extLst>
              <a:ext uri="{FF2B5EF4-FFF2-40B4-BE49-F238E27FC236}">
                <a16:creationId xmlns:a16="http://schemas.microsoft.com/office/drawing/2014/main" id="{3855295A-A52A-BEBB-2714-C85EFEA85BA3}"/>
              </a:ext>
            </a:extLst>
          </p:cNvPr>
          <p:cNvSpPr/>
          <p:nvPr/>
        </p:nvSpPr>
        <p:spPr>
          <a:xfrm>
            <a:off x="5122013" y="3830321"/>
            <a:ext cx="556686" cy="1300479"/>
          </a:xfrm>
          <a:prstGeom prst="rightBrace">
            <a:avLst>
              <a:gd name="adj1" fmla="val 8333"/>
              <a:gd name="adj2" fmla="val 4864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0990120-5744-43F2-5CC6-2C6B392D4467}"/>
              </a:ext>
            </a:extLst>
          </p:cNvPr>
          <p:cNvSpPr txBox="1"/>
          <p:nvPr/>
        </p:nvSpPr>
        <p:spPr>
          <a:xfrm>
            <a:off x="5796059" y="4157394"/>
            <a:ext cx="5918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Se log sur </a:t>
            </a:r>
            <a:r>
              <a:rPr lang="fr-FR" dirty="0" err="1"/>
              <a:t>dockerhub</a:t>
            </a:r>
            <a:r>
              <a:rPr lang="fr-FR" dirty="0"/>
              <a:t> les secrets sont mis directement sur </a:t>
            </a:r>
            <a:r>
              <a:rPr lang="fr-FR" dirty="0" err="1"/>
              <a:t>github</a:t>
            </a:r>
            <a:endParaRPr lang="fr-FR" dirty="0"/>
          </a:p>
        </p:txBody>
      </p:sp>
      <p:sp>
        <p:nvSpPr>
          <p:cNvPr id="12" name="Accolade fermante 11">
            <a:extLst>
              <a:ext uri="{FF2B5EF4-FFF2-40B4-BE49-F238E27FC236}">
                <a16:creationId xmlns:a16="http://schemas.microsoft.com/office/drawing/2014/main" id="{969BDAAE-7927-F820-B258-26B5A714EEED}"/>
              </a:ext>
            </a:extLst>
          </p:cNvPr>
          <p:cNvSpPr/>
          <p:nvPr/>
        </p:nvSpPr>
        <p:spPr>
          <a:xfrm>
            <a:off x="5122013" y="5203428"/>
            <a:ext cx="556686" cy="1654572"/>
          </a:xfrm>
          <a:prstGeom prst="rightBrace">
            <a:avLst>
              <a:gd name="adj1" fmla="val 8333"/>
              <a:gd name="adj2" fmla="val 4864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4ECC6AF-255C-9EFD-2C82-F8C792BAF065}"/>
              </a:ext>
            </a:extLst>
          </p:cNvPr>
          <p:cNvSpPr txBox="1"/>
          <p:nvPr/>
        </p:nvSpPr>
        <p:spPr>
          <a:xfrm>
            <a:off x="5796058" y="5846048"/>
            <a:ext cx="5918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Build</a:t>
            </a:r>
            <a:r>
              <a:rPr lang="fr-FR" dirty="0"/>
              <a:t> et push sur docker</a:t>
            </a:r>
          </a:p>
        </p:txBody>
      </p:sp>
    </p:spTree>
    <p:extLst>
      <p:ext uri="{BB962C8B-B14F-4D97-AF65-F5344CB8AC3E}">
        <p14:creationId xmlns:p14="http://schemas.microsoft.com/office/powerpoint/2010/main" val="3257383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2ABF68A-704A-7B08-4DDF-F9BAFE02E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557" y="660400"/>
            <a:ext cx="6408885" cy="419608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9657F70-78A6-9CAE-08EC-0BA8A68999C6}"/>
              </a:ext>
            </a:extLst>
          </p:cNvPr>
          <p:cNvSpPr txBox="1"/>
          <p:nvPr/>
        </p:nvSpPr>
        <p:spPr>
          <a:xfrm>
            <a:off x="2891557" y="4980354"/>
            <a:ext cx="5918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La pipeline CI/CD c’est bien lancé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7DF7FFF-9582-616C-610A-3BB71A4C8D45}"/>
              </a:ext>
            </a:extLst>
          </p:cNvPr>
          <p:cNvSpPr/>
          <p:nvPr/>
        </p:nvSpPr>
        <p:spPr>
          <a:xfrm>
            <a:off x="2814320" y="2773680"/>
            <a:ext cx="1036320" cy="2082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78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269A617-09EE-BAB4-C910-221FE0B76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7035"/>
            <a:ext cx="12192000" cy="210392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D1DECCA-80E0-370C-A299-81BD29E0BCF8}"/>
              </a:ext>
            </a:extLst>
          </p:cNvPr>
          <p:cNvSpPr txBox="1"/>
          <p:nvPr/>
        </p:nvSpPr>
        <p:spPr>
          <a:xfrm>
            <a:off x="0" y="4561840"/>
            <a:ext cx="260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J’ai bien mon image crée</a:t>
            </a:r>
          </a:p>
        </p:txBody>
      </p:sp>
    </p:spTree>
    <p:extLst>
      <p:ext uri="{BB962C8B-B14F-4D97-AF65-F5344CB8AC3E}">
        <p14:creationId xmlns:p14="http://schemas.microsoft.com/office/powerpoint/2010/main" val="2624267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5055B84B-B0E3-7A91-44F7-D8875B7AE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89" y="284480"/>
            <a:ext cx="6212171" cy="428752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51E2B55-7F0E-8690-B086-B719664B7543}"/>
              </a:ext>
            </a:extLst>
          </p:cNvPr>
          <p:cNvSpPr txBox="1"/>
          <p:nvPr/>
        </p:nvSpPr>
        <p:spPr>
          <a:xfrm>
            <a:off x="2076789" y="4714240"/>
            <a:ext cx="90992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seules les vulnérabilités remontées par Trivy sont pertinentes pour l’évaluation de la partie CI/CD, tandis que les alertes </a:t>
            </a:r>
            <a:r>
              <a:rPr lang="fr-FR" dirty="0" err="1"/>
              <a:t>CodeQL</a:t>
            </a:r>
            <a:r>
              <a:rPr lang="fr-FR" dirty="0"/>
              <a:t> proviennent du code applicatif volontairement vulnérable et ne sont pas liées au pipeline. On va donc corriger l’erreur JWT </a:t>
            </a:r>
            <a:r>
              <a:rPr lang="fr-FR" dirty="0" err="1"/>
              <a:t>token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8616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CCAC-5CF1-A635-07E7-7FF38191E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C320A28-74E2-5FCB-09CD-32C02EE84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00" y="0"/>
            <a:ext cx="10016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75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525D810F-1C8F-43B0-5C49-EE5BD41EEB93}"/>
              </a:ext>
            </a:extLst>
          </p:cNvPr>
          <p:cNvSpPr txBox="1"/>
          <p:nvPr/>
        </p:nvSpPr>
        <p:spPr>
          <a:xfrm>
            <a:off x="7447280" y="731520"/>
            <a:ext cx="4013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Ici c’est un faux JWT écrit en dur donc </a:t>
            </a:r>
            <a:r>
              <a:rPr lang="fr-FR" dirty="0" err="1"/>
              <a:t>trivy</a:t>
            </a:r>
            <a:r>
              <a:rPr lang="fr-FR" dirty="0"/>
              <a:t> considère ça comme 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Un  secret exposé</a:t>
            </a:r>
          </a:p>
          <a:p>
            <a:pPr marL="285750" indent="-285750">
              <a:buFontTx/>
              <a:buChar char="-"/>
            </a:pPr>
            <a:r>
              <a:rPr lang="fr-FR" dirty="0"/>
              <a:t>Un JWT en dur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Même si c’est un fichier de test </a:t>
            </a:r>
            <a:r>
              <a:rPr lang="fr-FR" dirty="0" err="1"/>
              <a:t>trivy</a:t>
            </a:r>
            <a:r>
              <a:rPr lang="fr-FR" dirty="0"/>
              <a:t> ne fait pas la différence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F68E9B1-18B1-2892-2BF6-49393085A580}"/>
              </a:ext>
            </a:extLst>
          </p:cNvPr>
          <p:cNvSpPr txBox="1"/>
          <p:nvPr/>
        </p:nvSpPr>
        <p:spPr>
          <a:xfrm>
            <a:off x="731520" y="73152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it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returns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payload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from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decoding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 a 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valid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 JWT'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inject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LoginGuard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], (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guard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LoginGuard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) =&gt; {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fr-FR" i="1" dirty="0" err="1">
                <a:solidFill>
                  <a:srgbClr val="C77DBA"/>
                </a:solidFill>
                <a:effectLst/>
                <a:latin typeface="JetBrains Mono"/>
              </a:rPr>
              <a:t>localStorage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setItem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token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'eyJhbGciOiJIUzI1NiIsInR5cCI6IkpXVCJ9.eyJzdWIiOiIxMjM0NTY3ODkwIiwibmFtZSI6IkpvaG4gRG9lIiwiaWF0IjoxNTE2MjM5MDIyfQ.SflKxwRJSMeKKF2QT4fwpMeJf36POk6yJV_adQssw5c'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expect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guard.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tokenDecode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()).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toEqual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({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sub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'1234567890'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name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'John Doe'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iat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>
                <a:solidFill>
                  <a:srgbClr val="2AACB8"/>
                </a:solidFill>
                <a:effectLst/>
                <a:latin typeface="JetBrains Mono"/>
              </a:rPr>
              <a:t>1516239022</a:t>
            </a:r>
            <a:br>
              <a:rPr lang="fr-FR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2AACB8"/>
                </a:solidFill>
                <a:effectLst/>
                <a:latin typeface="JetBrains Mono"/>
              </a:rPr>
              <a:t>  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})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}))</a:t>
            </a:r>
          </a:p>
        </p:txBody>
      </p:sp>
    </p:spTree>
    <p:extLst>
      <p:ext uri="{BB962C8B-B14F-4D97-AF65-F5344CB8AC3E}">
        <p14:creationId xmlns:p14="http://schemas.microsoft.com/office/powerpoint/2010/main" val="137334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4E876598-33AA-3BD5-1037-2F398CB8DDEC}"/>
              </a:ext>
            </a:extLst>
          </p:cNvPr>
          <p:cNvSpPr txBox="1"/>
          <p:nvPr/>
        </p:nvSpPr>
        <p:spPr>
          <a:xfrm>
            <a:off x="5648960" y="101767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fr-FR" dirty="0"/>
            </a:br>
            <a:r>
              <a:rPr lang="fr-FR" dirty="0"/>
              <a:t>Pour corriger cette vulnérabilité sans casser les tests, on supprime l’utilisation du vrai </a:t>
            </a:r>
            <a:r>
              <a:rPr lang="fr-FR" dirty="0" err="1"/>
              <a:t>token</a:t>
            </a:r>
            <a:r>
              <a:rPr lang="fr-FR" dirty="0"/>
              <a:t> et on remplace le comportement de la fonction </a:t>
            </a:r>
            <a:r>
              <a:rPr lang="fr-FR" dirty="0" err="1"/>
              <a:t>tokenDecode</a:t>
            </a:r>
            <a:r>
              <a:rPr lang="fr-FR" dirty="0"/>
              <a:t>() par un </a:t>
            </a:r>
            <a:r>
              <a:rPr lang="fr-FR" dirty="0" err="1"/>
              <a:t>mock</a:t>
            </a:r>
            <a:r>
              <a:rPr lang="fr-FR" dirty="0"/>
              <a:t> via </a:t>
            </a:r>
            <a:r>
              <a:rPr lang="en-US" dirty="0" err="1"/>
              <a:t>spyOn</a:t>
            </a:r>
            <a:r>
              <a:rPr lang="en-US" dirty="0"/>
              <a:t>(guard, '</a:t>
            </a:r>
            <a:r>
              <a:rPr lang="en-US" dirty="0" err="1"/>
              <a:t>tokenDecode</a:t>
            </a:r>
            <a:r>
              <a:rPr lang="en-US" dirty="0"/>
              <a:t>').</a:t>
            </a:r>
            <a:r>
              <a:rPr lang="en-US" dirty="0" err="1"/>
              <a:t>and.returnValue</a:t>
            </a:r>
            <a:r>
              <a:rPr lang="en-US" dirty="0"/>
              <a:t>({…</a:t>
            </a:r>
            <a:r>
              <a:rPr lang="fr-FR" dirty="0"/>
              <a:t>})</a:t>
            </a:r>
            <a:endParaRPr lang="en-US" dirty="0"/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67D367C-8696-5486-FB8E-067C430B9DFA}"/>
              </a:ext>
            </a:extLst>
          </p:cNvPr>
          <p:cNvSpPr txBox="1"/>
          <p:nvPr/>
        </p:nvSpPr>
        <p:spPr>
          <a:xfrm>
            <a:off x="538480" y="1305341"/>
            <a:ext cx="47853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it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returns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payload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from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decoding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 a 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valid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 JWT'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inject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LoginGuard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], (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guard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LoginGuard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) =&gt; {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spyOn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guard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tokenDecode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and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returnValue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({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sub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'1234567890'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name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'John Doe'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iat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>
                <a:solidFill>
                  <a:srgbClr val="2AACB8"/>
                </a:solidFill>
                <a:effectLst/>
                <a:latin typeface="JetBrains Mono"/>
              </a:rPr>
              <a:t>1516239022</a:t>
            </a:r>
            <a:br>
              <a:rPr lang="fr-FR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2AACB8"/>
                </a:solidFill>
                <a:effectLst/>
                <a:latin typeface="JetBrains Mono"/>
              </a:rPr>
              <a:t>  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})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expect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guard.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tokenDecode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()).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toEqual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({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sub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'1234567890'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name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'John Doe'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iat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>
                <a:solidFill>
                  <a:srgbClr val="2AACB8"/>
                </a:solidFill>
                <a:effectLst/>
                <a:latin typeface="JetBrains Mono"/>
              </a:rPr>
              <a:t>1516239022</a:t>
            </a:r>
            <a:br>
              <a:rPr lang="fr-FR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2AACB8"/>
                </a:solidFill>
                <a:effectLst/>
                <a:latin typeface="JetBrains Mono"/>
              </a:rPr>
              <a:t>  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})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}))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F810C7F-7FAD-7D6F-14A7-2C12A11F5CE9}"/>
              </a:ext>
            </a:extLst>
          </p:cNvPr>
          <p:cNvSpPr txBox="1"/>
          <p:nvPr/>
        </p:nvSpPr>
        <p:spPr>
          <a:xfrm>
            <a:off x="5648960" y="348583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Un </a:t>
            </a:r>
            <a:r>
              <a:rPr lang="fr-FR" dirty="0" err="1"/>
              <a:t>mock</a:t>
            </a:r>
            <a:r>
              <a:rPr lang="fr-FR" dirty="0"/>
              <a:t> permet de simuler le comportement d’une fonction : ici, </a:t>
            </a:r>
            <a:r>
              <a:rPr lang="fr-FR" dirty="0" err="1"/>
              <a:t>tokenDecode</a:t>
            </a:r>
            <a:r>
              <a:rPr lang="fr-FR" dirty="0"/>
              <a:t>() ne décode plus un vrai JWT, mais renvoie directement un résultat factice contrôlé dans le test</a:t>
            </a:r>
          </a:p>
        </p:txBody>
      </p:sp>
    </p:spTree>
    <p:extLst>
      <p:ext uri="{BB962C8B-B14F-4D97-AF65-F5344CB8AC3E}">
        <p14:creationId xmlns:p14="http://schemas.microsoft.com/office/powerpoint/2010/main" val="363677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CF443AB-F69F-1526-E56F-66506BCEC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097" y="610661"/>
            <a:ext cx="9429806" cy="41238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7D8D325-BC1B-3ED1-6FA1-84B22478958D}"/>
              </a:ext>
            </a:extLst>
          </p:cNvPr>
          <p:cNvSpPr txBox="1"/>
          <p:nvPr/>
        </p:nvSpPr>
        <p:spPr>
          <a:xfrm>
            <a:off x="1381096" y="4806633"/>
            <a:ext cx="9429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Erreur résolue</a:t>
            </a:r>
          </a:p>
        </p:txBody>
      </p:sp>
    </p:spTree>
    <p:extLst>
      <p:ext uri="{BB962C8B-B14F-4D97-AF65-F5344CB8AC3E}">
        <p14:creationId xmlns:p14="http://schemas.microsoft.com/office/powerpoint/2010/main" val="336541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9DE73BD-BE8A-72E7-377C-FB71E60A6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03" y="0"/>
            <a:ext cx="10025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6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F3CC40-8012-4D7F-5DE7-5486A12A7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082" y="0"/>
            <a:ext cx="8909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3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92C2360-C0E4-7FAE-199B-E00538538B9D}"/>
              </a:ext>
            </a:extLst>
          </p:cNvPr>
          <p:cNvSpPr txBox="1"/>
          <p:nvPr/>
        </p:nvSpPr>
        <p:spPr>
          <a:xfrm>
            <a:off x="5699760" y="84367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 err="1"/>
              <a:t>CodeQL</a:t>
            </a:r>
            <a:r>
              <a:rPr lang="fr-FR" dirty="0"/>
              <a:t> a détecté l’absence de protection contre les attaques CSRF dans l’application Express.</a:t>
            </a:r>
          </a:p>
          <a:p>
            <a:pPr>
              <a:buNone/>
            </a:pPr>
            <a:br>
              <a:rPr lang="fr-FR" dirty="0"/>
            </a:br>
            <a:r>
              <a:rPr lang="fr-FR" dirty="0"/>
              <a:t>Une attaque CSRF permet à un site externe d’effectuer des actions à la place d’un utilisateur authentifié.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/>
              <a:t>Pour corriger cette vulnérabilité, on ajoute le middleware </a:t>
            </a:r>
            <a:r>
              <a:rPr lang="fr-FR" dirty="0" err="1"/>
              <a:t>csurf</a:t>
            </a:r>
            <a:r>
              <a:rPr lang="fr-FR" dirty="0"/>
              <a:t>, qui génère un jeton CSRF unique pour chaque session et vérifie sa présence dans toutes les requêtes sensibles. Cette mesure empêche les actions non autorisées effectuées par des sites tiers.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E0F6EE6-A291-3E0E-AB5E-C561C7FD9E89}"/>
              </a:ext>
            </a:extLst>
          </p:cNvPr>
          <p:cNvSpPr txBox="1"/>
          <p:nvPr/>
        </p:nvSpPr>
        <p:spPr>
          <a:xfrm>
            <a:off x="1168400" y="843677"/>
            <a:ext cx="3230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 err="1">
                <a:solidFill>
                  <a:srgbClr val="A9B7C6"/>
                </a:solidFill>
                <a:effectLst/>
                <a:latin typeface="JetBrains Mono"/>
              </a:rPr>
              <a:t>app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use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cookieParser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fr-FR" dirty="0" err="1">
                <a:solidFill>
                  <a:srgbClr val="6AAB73"/>
                </a:solidFill>
                <a:effectLst/>
                <a:latin typeface="JetBrains Mono"/>
              </a:rPr>
              <a:t>kekse</a:t>
            </a:r>
            <a:r>
              <a:rPr lang="fr-FR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fr-F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A9B7C6"/>
                </a:solidFill>
                <a:effectLst/>
                <a:latin typeface="JetBrains Mono"/>
              </a:rPr>
              <a:t>app</a:t>
            </a:r>
            <a:r>
              <a:rPr lang="fr-FR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use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56A8F5"/>
                </a:solidFill>
                <a:effectLst/>
                <a:latin typeface="JetBrains Mono"/>
              </a:rPr>
              <a:t>csrf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({ </a:t>
            </a:r>
            <a:r>
              <a:rPr lang="fr-FR" dirty="0">
                <a:solidFill>
                  <a:srgbClr val="C77DBB"/>
                </a:solidFill>
                <a:effectLst/>
                <a:latin typeface="JetBrains Mono"/>
              </a:rPr>
              <a:t>cookie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dirty="0" err="1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fr-FR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BCBEC4"/>
                </a:solidFill>
                <a:effectLst/>
                <a:latin typeface="JetBrains Mono"/>
              </a:rPr>
              <a:t>}))</a:t>
            </a:r>
          </a:p>
        </p:txBody>
      </p:sp>
    </p:spTree>
    <p:extLst>
      <p:ext uri="{BB962C8B-B14F-4D97-AF65-F5344CB8AC3E}">
        <p14:creationId xmlns:p14="http://schemas.microsoft.com/office/powerpoint/2010/main" val="4016491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891FFB6-F0ED-14C2-5205-D65A7AB10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685" y="0"/>
            <a:ext cx="9370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85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DC30C83-F6D4-7C4D-C9AC-3454435198F1}"/>
              </a:ext>
            </a:extLst>
          </p:cNvPr>
          <p:cNvSpPr txBox="1"/>
          <p:nvPr/>
        </p:nvSpPr>
        <p:spPr>
          <a:xfrm>
            <a:off x="5963920" y="3112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 err="1"/>
              <a:t>CodeQL</a:t>
            </a:r>
            <a:r>
              <a:rPr lang="fr-FR" dirty="0"/>
              <a:t> détecte une vulnérabilité de code injection car l’application utilise $</a:t>
            </a:r>
            <a:r>
              <a:rPr lang="fr-FR" dirty="0" err="1"/>
              <a:t>where</a:t>
            </a:r>
            <a:r>
              <a:rPr lang="fr-FR" dirty="0"/>
              <a:t> avec une interpolation de paramètre utilisateur pour rechercher une commande. L’opérateur $</a:t>
            </a:r>
            <a:r>
              <a:rPr lang="fr-FR" dirty="0" err="1"/>
              <a:t>where</a:t>
            </a:r>
            <a:r>
              <a:rPr lang="fr-FR" dirty="0"/>
              <a:t> exécute du JavaScript côté MongoDB, ce qui permettait à un attaquant d’injecter du code.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4B85C74-9B31-9344-E1CC-7366F0014442}"/>
              </a:ext>
            </a:extLst>
          </p:cNvPr>
          <p:cNvSpPr txBox="1"/>
          <p:nvPr/>
        </p:nvSpPr>
        <p:spPr>
          <a:xfrm>
            <a:off x="132080" y="311279"/>
            <a:ext cx="56692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dirty="0">
                <a:solidFill>
                  <a:srgbClr val="CF8E6D"/>
                </a:solidFill>
                <a:effectLst/>
                <a:latin typeface="JetBrains Mono"/>
              </a:rPr>
              <a:t>export </a:t>
            </a:r>
            <a:r>
              <a:rPr lang="fr-FR" sz="1600" dirty="0" err="1">
                <a:solidFill>
                  <a:srgbClr val="CF8E6D"/>
                </a:solidFill>
                <a:effectLst/>
                <a:latin typeface="JetBrains Mono"/>
              </a:rPr>
              <a:t>function</a:t>
            </a:r>
            <a:r>
              <a:rPr lang="fr-FR" sz="16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trackOrder</a:t>
            </a:r>
            <a:r>
              <a:rPr lang="fr-FR" sz="1600" dirty="0">
                <a:solidFill>
                  <a:srgbClr val="56A8F5"/>
                </a:solidFill>
                <a:effectLst/>
                <a:latin typeface="JetBrains Mono"/>
              </a:rPr>
              <a:t> 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() {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fr-FR" sz="16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req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Request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res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Response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) =&gt; {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sz="1600" dirty="0">
                <a:solidFill>
                  <a:srgbClr val="7A7E85"/>
                </a:solidFill>
                <a:effectLst/>
                <a:latin typeface="JetBrains Mono"/>
              </a:rPr>
              <a:t>// </a:t>
            </a:r>
            <a:r>
              <a:rPr lang="fr-FR" sz="1600" dirty="0" err="1">
                <a:solidFill>
                  <a:srgbClr val="7A7E85"/>
                </a:solidFill>
                <a:effectLst/>
                <a:latin typeface="JetBrains Mono"/>
              </a:rPr>
              <a:t>Truncate</a:t>
            </a:r>
            <a:r>
              <a:rPr lang="fr-FR" sz="1600" dirty="0">
                <a:solidFill>
                  <a:srgbClr val="7A7E85"/>
                </a:solidFill>
                <a:effectLst/>
                <a:latin typeface="JetBrains Mono"/>
              </a:rPr>
              <a:t> id to </a:t>
            </a:r>
            <a:r>
              <a:rPr lang="fr-FR" sz="1600" dirty="0" err="1">
                <a:solidFill>
                  <a:srgbClr val="7A7E85"/>
                </a:solidFill>
                <a:effectLst/>
                <a:latin typeface="JetBrains Mono"/>
              </a:rPr>
              <a:t>avoid</a:t>
            </a:r>
            <a:r>
              <a:rPr lang="fr-FR" sz="160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fr-FR" sz="1600" dirty="0" err="1">
                <a:solidFill>
                  <a:srgbClr val="7A7E85"/>
                </a:solidFill>
                <a:effectLst/>
                <a:latin typeface="JetBrains Mono"/>
              </a:rPr>
              <a:t>unintentional</a:t>
            </a:r>
            <a:r>
              <a:rPr lang="fr-FR" sz="1600" dirty="0">
                <a:solidFill>
                  <a:srgbClr val="7A7E85"/>
                </a:solidFill>
                <a:effectLst/>
                <a:latin typeface="JetBrains Mono"/>
              </a:rPr>
              <a:t> RCE</a:t>
            </a:r>
            <a:br>
              <a:rPr lang="fr-FR" sz="16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fr-FR" sz="1600" dirty="0" err="1">
                <a:solidFill>
                  <a:srgbClr val="CF8E6D"/>
                </a:solidFill>
                <a:effectLst/>
                <a:latin typeface="JetBrains Mono"/>
              </a:rPr>
              <a:t>const</a:t>
            </a:r>
            <a:r>
              <a:rPr lang="fr-FR" sz="16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fr-FR" sz="1600" dirty="0">
                <a:solidFill>
                  <a:srgbClr val="A9B7C6"/>
                </a:solidFill>
                <a:effectLst/>
                <a:latin typeface="JetBrains Mono"/>
              </a:rPr>
              <a:t>id 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= !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utils.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isChallengeEnabled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600" i="1" dirty="0" err="1">
                <a:solidFill>
                  <a:srgbClr val="C77DBA"/>
                </a:solidFill>
                <a:effectLst/>
                <a:latin typeface="JetBrains Mono"/>
              </a:rPr>
              <a:t>challenges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600" dirty="0" err="1">
                <a:solidFill>
                  <a:srgbClr val="C77DBB"/>
                </a:solidFill>
                <a:effectLst/>
                <a:latin typeface="JetBrains Mono"/>
              </a:rPr>
              <a:t>reflectedXssChallenge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) ? </a:t>
            </a:r>
            <a:r>
              <a:rPr lang="fr-FR" sz="1600" dirty="0">
                <a:solidFill>
                  <a:srgbClr val="56A8F5"/>
                </a:solidFill>
                <a:effectLst/>
                <a:latin typeface="JetBrains Mono"/>
              </a:rPr>
              <a:t>String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(req.</a:t>
            </a:r>
            <a:r>
              <a:rPr lang="fr-FR" sz="1600" dirty="0">
                <a:solidFill>
                  <a:srgbClr val="C77DBB"/>
                </a:solidFill>
                <a:effectLst/>
                <a:latin typeface="JetBrains Mono"/>
              </a:rPr>
              <a:t>params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.id).</a:t>
            </a:r>
            <a:r>
              <a:rPr lang="fr-FR" sz="1600" dirty="0">
                <a:solidFill>
                  <a:srgbClr val="56A8F5"/>
                </a:solidFill>
                <a:effectLst/>
                <a:latin typeface="JetBrains Mono"/>
              </a:rPr>
              <a:t>replace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600" dirty="0">
                <a:solidFill>
                  <a:srgbClr val="42C3D4"/>
                </a:solidFill>
                <a:effectLst/>
                <a:latin typeface="JetBrains Mono"/>
              </a:rPr>
              <a:t>/[^\w-]+/g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fr-FR" sz="1600" dirty="0">
                <a:solidFill>
                  <a:srgbClr val="6AAB73"/>
                </a:solidFill>
                <a:effectLst/>
                <a:latin typeface="JetBrains Mono"/>
              </a:rPr>
              <a:t>''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) :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utils.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trunc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(req.</a:t>
            </a:r>
            <a:r>
              <a:rPr lang="fr-FR" sz="1600" dirty="0">
                <a:solidFill>
                  <a:srgbClr val="C77DBB"/>
                </a:solidFill>
                <a:effectLst/>
                <a:latin typeface="JetBrains Mono"/>
              </a:rPr>
              <a:t>params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.id, </a:t>
            </a:r>
            <a:r>
              <a:rPr lang="fr-FR" sz="1600" dirty="0">
                <a:solidFill>
                  <a:srgbClr val="2AACB8"/>
                </a:solidFill>
                <a:effectLst/>
                <a:latin typeface="JetBrains Mono"/>
              </a:rPr>
              <a:t>60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challengeUtils.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solveIf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600" i="1" dirty="0" err="1">
                <a:solidFill>
                  <a:srgbClr val="C77DBA"/>
                </a:solidFill>
                <a:effectLst/>
                <a:latin typeface="JetBrains Mono"/>
              </a:rPr>
              <a:t>challenges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600" dirty="0" err="1">
                <a:solidFill>
                  <a:srgbClr val="C77DBB"/>
                </a:solidFill>
                <a:effectLst/>
                <a:latin typeface="JetBrains Mono"/>
              </a:rPr>
              <a:t>reflectedXssChallenge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, () =&gt; { </a:t>
            </a:r>
            <a:r>
              <a:rPr lang="fr-FR" sz="16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utils.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contains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600" dirty="0">
                <a:solidFill>
                  <a:srgbClr val="A9B7C6"/>
                </a:solidFill>
                <a:effectLst/>
                <a:latin typeface="JetBrains Mono"/>
              </a:rPr>
              <a:t>id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fr-FR" sz="1600" dirty="0">
                <a:solidFill>
                  <a:srgbClr val="6AAB73"/>
                </a:solidFill>
                <a:effectLst/>
                <a:latin typeface="JetBrains Mono"/>
              </a:rPr>
              <a:t>'&lt;</a:t>
            </a:r>
            <a:r>
              <a:rPr lang="fr-FR" sz="1600" dirty="0" err="1">
                <a:solidFill>
                  <a:srgbClr val="6AAB73"/>
                </a:solidFill>
                <a:effectLst/>
                <a:latin typeface="JetBrains Mono"/>
              </a:rPr>
              <a:t>iframe</a:t>
            </a:r>
            <a:r>
              <a:rPr lang="fr-FR" sz="1600" dirty="0">
                <a:solidFill>
                  <a:srgbClr val="6AAB73"/>
                </a:solidFill>
                <a:effectLst/>
                <a:latin typeface="JetBrains Mono"/>
              </a:rPr>
              <a:t> src="</a:t>
            </a:r>
            <a:r>
              <a:rPr lang="fr-FR" sz="1600" dirty="0" err="1">
                <a:solidFill>
                  <a:srgbClr val="6AAB73"/>
                </a:solidFill>
                <a:effectLst/>
                <a:latin typeface="JetBrains Mono"/>
              </a:rPr>
              <a:t>javascript:alert</a:t>
            </a:r>
            <a:r>
              <a:rPr lang="fr-FR" sz="1600" dirty="0">
                <a:solidFill>
                  <a:srgbClr val="6AAB73"/>
                </a:solidFill>
                <a:effectLst/>
                <a:latin typeface="JetBrains Mono"/>
              </a:rPr>
              <a:t>(`</a:t>
            </a:r>
            <a:r>
              <a:rPr lang="fr-FR" sz="1600" dirty="0" err="1">
                <a:solidFill>
                  <a:srgbClr val="6AAB73"/>
                </a:solidFill>
                <a:effectLst/>
                <a:latin typeface="JetBrains Mono"/>
              </a:rPr>
              <a:t>xss</a:t>
            </a:r>
            <a:r>
              <a:rPr lang="fr-FR" sz="1600" dirty="0">
                <a:solidFill>
                  <a:srgbClr val="6AAB73"/>
                </a:solidFill>
                <a:effectLst/>
                <a:latin typeface="JetBrains Mono"/>
              </a:rPr>
              <a:t>`)"&gt;'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) })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db.</a:t>
            </a:r>
            <a:r>
              <a:rPr lang="fr-FR" sz="1600" i="1" dirty="0" err="1">
                <a:solidFill>
                  <a:srgbClr val="C77DBA"/>
                </a:solidFill>
                <a:effectLst/>
                <a:latin typeface="JetBrains Mono"/>
              </a:rPr>
              <a:t>ordersCollection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find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({ </a:t>
            </a:r>
            <a:r>
              <a:rPr lang="fr-FR" sz="1600" dirty="0">
                <a:solidFill>
                  <a:srgbClr val="C77DBB"/>
                </a:solidFill>
                <a:effectLst/>
                <a:latin typeface="JetBrains Mono"/>
              </a:rPr>
              <a:t>$</a:t>
            </a:r>
            <a:r>
              <a:rPr lang="fr-FR" sz="1600" dirty="0" err="1">
                <a:solidFill>
                  <a:srgbClr val="C77DBB"/>
                </a:solidFill>
                <a:effectLst/>
                <a:latin typeface="JetBrains Mono"/>
              </a:rPr>
              <a:t>where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600" dirty="0">
                <a:solidFill>
                  <a:srgbClr val="6AAB73"/>
                </a:solidFill>
                <a:effectLst/>
                <a:latin typeface="JetBrains Mono"/>
              </a:rPr>
              <a:t>`</a:t>
            </a:r>
            <a:r>
              <a:rPr lang="fr-FR" sz="1600" dirty="0" err="1">
                <a:solidFill>
                  <a:srgbClr val="6AAB73"/>
                </a:solidFill>
                <a:effectLst/>
                <a:latin typeface="JetBrains Mono"/>
              </a:rPr>
              <a:t>this.orderId</a:t>
            </a:r>
            <a:r>
              <a:rPr lang="fr-FR" sz="1600" dirty="0">
                <a:solidFill>
                  <a:srgbClr val="6AAB73"/>
                </a:solidFill>
                <a:effectLst/>
                <a:latin typeface="JetBrains Mono"/>
              </a:rPr>
              <a:t> === '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${</a:t>
            </a:r>
            <a:r>
              <a:rPr lang="fr-FR" sz="1600" dirty="0">
                <a:solidFill>
                  <a:srgbClr val="A9B7C6"/>
                </a:solidFill>
                <a:effectLst/>
                <a:latin typeface="JetBrains Mono"/>
              </a:rPr>
              <a:t>id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  <a:r>
              <a:rPr lang="fr-FR" sz="1600" dirty="0">
                <a:solidFill>
                  <a:srgbClr val="6AAB73"/>
                </a:solidFill>
                <a:effectLst/>
                <a:latin typeface="JetBrains Mono"/>
              </a:rPr>
              <a:t>'` 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}).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then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((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order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600" dirty="0" err="1">
                <a:solidFill>
                  <a:srgbClr val="CF8E6D"/>
                </a:solidFill>
                <a:effectLst/>
                <a:latin typeface="JetBrains Mono"/>
              </a:rPr>
              <a:t>any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) =&gt; {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fr-FR" sz="1600" dirty="0" err="1">
                <a:solidFill>
                  <a:srgbClr val="CF8E6D"/>
                </a:solidFill>
                <a:effectLst/>
                <a:latin typeface="JetBrains Mono"/>
              </a:rPr>
              <a:t>const</a:t>
            </a:r>
            <a:r>
              <a:rPr lang="fr-FR" sz="16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fr-FR" sz="1600" dirty="0" err="1">
                <a:solidFill>
                  <a:srgbClr val="A9B7C6"/>
                </a:solidFill>
                <a:effectLst/>
                <a:latin typeface="JetBrains Mono"/>
              </a:rPr>
              <a:t>result</a:t>
            </a:r>
            <a:r>
              <a:rPr lang="fr-FR" sz="1600" dirty="0"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utils.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queryResultToJson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order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challengeUtils.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solveIf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600" i="1" dirty="0" err="1">
                <a:solidFill>
                  <a:srgbClr val="C77DBA"/>
                </a:solidFill>
                <a:effectLst/>
                <a:latin typeface="JetBrains Mono"/>
              </a:rPr>
              <a:t>challenges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600" dirty="0" err="1">
                <a:solidFill>
                  <a:srgbClr val="C77DBB"/>
                </a:solidFill>
                <a:effectLst/>
                <a:latin typeface="JetBrains Mono"/>
              </a:rPr>
              <a:t>noSqlOrdersChallenge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, () =&gt; { </a:t>
            </a:r>
            <a:r>
              <a:rPr lang="fr-FR" sz="16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fr-FR" sz="1600" dirty="0" err="1">
                <a:solidFill>
                  <a:srgbClr val="A9B7C6"/>
                </a:solidFill>
                <a:effectLst/>
                <a:latin typeface="JetBrains Mono"/>
              </a:rPr>
              <a:t>result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600" i="1" dirty="0" err="1"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600" dirty="0" err="1">
                <a:solidFill>
                  <a:srgbClr val="C77DBB"/>
                </a:solidFill>
                <a:effectLst/>
                <a:latin typeface="JetBrains Mono"/>
              </a:rPr>
              <a:t>length</a:t>
            </a:r>
            <a:r>
              <a:rPr lang="fr-FR" sz="16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&gt; </a:t>
            </a:r>
            <a:r>
              <a:rPr lang="fr-FR" sz="1600" dirty="0">
                <a:solidFill>
                  <a:srgbClr val="2AACB8"/>
                </a:solidFill>
                <a:effectLst/>
                <a:latin typeface="JetBrains Mono"/>
              </a:rPr>
              <a:t>1 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})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fr-FR" sz="16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600" dirty="0" err="1">
                <a:solidFill>
                  <a:srgbClr val="A9B7C6"/>
                </a:solidFill>
                <a:effectLst/>
                <a:latin typeface="JetBrains Mono"/>
              </a:rPr>
              <a:t>result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600" i="1" dirty="0" err="1"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fr-FR" sz="16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] === </a:t>
            </a:r>
            <a:r>
              <a:rPr lang="fr-FR" sz="1600" dirty="0" err="1">
                <a:solidFill>
                  <a:srgbClr val="CF8E6D"/>
                </a:solidFill>
                <a:effectLst/>
                <a:latin typeface="JetBrains Mono"/>
              </a:rPr>
              <a:t>undefined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) {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fr-FR" sz="1600" dirty="0" err="1">
                <a:solidFill>
                  <a:srgbClr val="A9B7C6"/>
                </a:solidFill>
                <a:effectLst/>
                <a:latin typeface="JetBrains Mono"/>
              </a:rPr>
              <a:t>result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600" i="1" dirty="0" err="1"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fr-FR" sz="16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] = { </a:t>
            </a:r>
            <a:r>
              <a:rPr lang="fr-FR" sz="1600" dirty="0" err="1">
                <a:solidFill>
                  <a:srgbClr val="C77DBB"/>
                </a:solidFill>
                <a:effectLst/>
                <a:latin typeface="JetBrains Mono"/>
              </a:rPr>
              <a:t>orderId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600" dirty="0">
                <a:solidFill>
                  <a:srgbClr val="A9B7C6"/>
                </a:solidFill>
                <a:effectLst/>
                <a:latin typeface="JetBrains Mono"/>
              </a:rPr>
              <a:t>id 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  }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res.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json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600" dirty="0" err="1">
                <a:solidFill>
                  <a:srgbClr val="A9B7C6"/>
                </a:solidFill>
                <a:effectLst/>
                <a:latin typeface="JetBrains Mono"/>
              </a:rPr>
              <a:t>result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}, () =&gt; {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fr-FR" sz="1600" dirty="0" err="1">
                <a:solidFill>
                  <a:srgbClr val="BCBEC4"/>
                </a:solidFill>
                <a:effectLst/>
                <a:latin typeface="JetBrains Mono"/>
              </a:rPr>
              <a:t>res.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status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600" dirty="0">
                <a:solidFill>
                  <a:srgbClr val="2AACB8"/>
                </a:solidFill>
                <a:effectLst/>
                <a:latin typeface="JetBrains Mono"/>
              </a:rPr>
              <a:t>400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fr-FR" sz="1600" dirty="0" err="1">
                <a:solidFill>
                  <a:srgbClr val="56A8F5"/>
                </a:solidFill>
                <a:effectLst/>
                <a:latin typeface="JetBrains Mono"/>
              </a:rPr>
              <a:t>json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({ </a:t>
            </a:r>
            <a:r>
              <a:rPr lang="fr-FR" sz="1600" dirty="0" err="1">
                <a:solidFill>
                  <a:srgbClr val="C77DBB"/>
                </a:solidFill>
                <a:effectLst/>
                <a:latin typeface="JetBrains Mono"/>
              </a:rPr>
              <a:t>error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6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fr-FR" sz="1600" dirty="0" err="1">
                <a:solidFill>
                  <a:srgbClr val="6AAB73"/>
                </a:solidFill>
                <a:effectLst/>
                <a:latin typeface="JetBrains Mono"/>
              </a:rPr>
              <a:t>Wrong</a:t>
            </a:r>
            <a:r>
              <a:rPr lang="fr-FR" sz="1600" dirty="0">
                <a:solidFill>
                  <a:srgbClr val="6AAB73"/>
                </a:solidFill>
                <a:effectLst/>
                <a:latin typeface="JetBrains Mono"/>
              </a:rPr>
              <a:t> Param' </a:t>
            </a: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})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  })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  }</a:t>
            </a:r>
            <a:b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6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2431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E807703-F45B-BAE0-191C-747B9C2B7B03}"/>
              </a:ext>
            </a:extLst>
          </p:cNvPr>
          <p:cNvSpPr txBox="1"/>
          <p:nvPr/>
        </p:nvSpPr>
        <p:spPr>
          <a:xfrm>
            <a:off x="6096000" y="69897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On corrige la vulnérabilité en supprimant entièrement $</a:t>
            </a:r>
            <a:r>
              <a:rPr lang="fr-FR" dirty="0" err="1"/>
              <a:t>where</a:t>
            </a:r>
            <a:r>
              <a:rPr lang="fr-FR" dirty="0"/>
              <a:t> et en le remplaçant par une requête MongoDB classique et typée (</a:t>
            </a:r>
            <a:r>
              <a:rPr lang="fr-FR" dirty="0" err="1"/>
              <a:t>find</a:t>
            </a:r>
            <a:r>
              <a:rPr lang="fr-FR" dirty="0"/>
              <a:t>({ </a:t>
            </a:r>
            <a:r>
              <a:rPr lang="fr-FR" dirty="0" err="1"/>
              <a:t>orderId</a:t>
            </a:r>
            <a:r>
              <a:rPr lang="fr-FR" dirty="0"/>
              <a:t>: id })). Cette approche empêche toute exécution de code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DE2CD1-AC91-1289-2EF2-1E8593EAAB8B}"/>
              </a:ext>
            </a:extLst>
          </p:cNvPr>
          <p:cNvSpPr txBox="1"/>
          <p:nvPr/>
        </p:nvSpPr>
        <p:spPr>
          <a:xfrm>
            <a:off x="447040" y="428178"/>
            <a:ext cx="54432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dirty="0">
                <a:solidFill>
                  <a:srgbClr val="CF8E6D"/>
                </a:solidFill>
                <a:effectLst/>
                <a:latin typeface="JetBrains Mono"/>
              </a:rPr>
              <a:t>export </a:t>
            </a:r>
            <a:r>
              <a:rPr lang="fr-FR" sz="1200" dirty="0" err="1">
                <a:solidFill>
                  <a:srgbClr val="CF8E6D"/>
                </a:solidFill>
                <a:effectLst/>
                <a:latin typeface="JetBrains Mono"/>
              </a:rPr>
              <a:t>function</a:t>
            </a:r>
            <a:r>
              <a:rPr lang="fr-FR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trackOrder</a:t>
            </a:r>
            <a:r>
              <a:rPr lang="fr-FR" sz="1200" dirty="0">
                <a:solidFill>
                  <a:srgbClr val="56A8F5"/>
                </a:solidFill>
                <a:effectLst/>
                <a:latin typeface="JetBrains Mono"/>
              </a:rPr>
              <a:t>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() {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fr-FR" sz="12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req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Request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res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Response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 =&gt; {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sz="1200" dirty="0">
                <a:solidFill>
                  <a:srgbClr val="7A7E85"/>
                </a:solidFill>
                <a:effectLst/>
                <a:latin typeface="JetBrains Mono"/>
              </a:rPr>
              <a:t>// </a:t>
            </a:r>
            <a:r>
              <a:rPr lang="fr-FR" sz="1200" dirty="0" err="1">
                <a:solidFill>
                  <a:srgbClr val="7A7E85"/>
                </a:solidFill>
                <a:effectLst/>
                <a:latin typeface="JetBrains Mono"/>
              </a:rPr>
              <a:t>Sanitize</a:t>
            </a:r>
            <a:r>
              <a:rPr lang="fr-FR" sz="1200" dirty="0">
                <a:solidFill>
                  <a:srgbClr val="7A7E85"/>
                </a:solidFill>
                <a:effectLst/>
                <a:latin typeface="JetBrains Mono"/>
              </a:rPr>
              <a:t> or </a:t>
            </a:r>
            <a:r>
              <a:rPr lang="fr-FR" sz="1200" dirty="0" err="1">
                <a:solidFill>
                  <a:srgbClr val="7A7E85"/>
                </a:solidFill>
                <a:effectLst/>
                <a:latin typeface="JetBrains Mono"/>
              </a:rPr>
              <a:t>truncate</a:t>
            </a:r>
            <a:r>
              <a:rPr lang="fr-FR" sz="1200" dirty="0">
                <a:solidFill>
                  <a:srgbClr val="7A7E85"/>
                </a:solidFill>
                <a:effectLst/>
                <a:latin typeface="JetBrains Mono"/>
              </a:rPr>
              <a:t> ID </a:t>
            </a:r>
            <a:r>
              <a:rPr lang="fr-FR" sz="1200" dirty="0" err="1">
                <a:solidFill>
                  <a:srgbClr val="7A7E85"/>
                </a:solidFill>
                <a:effectLst/>
                <a:latin typeface="JetBrains Mono"/>
              </a:rPr>
              <a:t>depending</a:t>
            </a:r>
            <a:r>
              <a:rPr lang="fr-FR" sz="1200" dirty="0">
                <a:solidFill>
                  <a:srgbClr val="7A7E85"/>
                </a:solidFill>
                <a:effectLst/>
                <a:latin typeface="JetBrains Mono"/>
              </a:rPr>
              <a:t> on challenge mode</a:t>
            </a:r>
            <a:br>
              <a:rPr lang="fr-FR" sz="1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fr-FR" sz="1200" dirty="0" err="1">
                <a:solidFill>
                  <a:srgbClr val="CF8E6D"/>
                </a:solidFill>
                <a:effectLst/>
                <a:latin typeface="JetBrains Mono"/>
              </a:rPr>
              <a:t>const</a:t>
            </a:r>
            <a:r>
              <a:rPr lang="fr-FR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fr-FR" sz="1200" dirty="0">
                <a:solidFill>
                  <a:srgbClr val="A9B7C6"/>
                </a:solidFill>
                <a:effectLst/>
                <a:latin typeface="JetBrains Mono"/>
              </a:rPr>
              <a:t>id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= !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utils.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isChallengeEnabled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200" i="1" dirty="0" err="1">
                <a:solidFill>
                  <a:srgbClr val="C77DBA"/>
                </a:solidFill>
                <a:effectLst/>
                <a:latin typeface="JetBrains Mono"/>
              </a:rPr>
              <a:t>challenges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200" dirty="0" err="1">
                <a:solidFill>
                  <a:srgbClr val="C77DBB"/>
                </a:solidFill>
                <a:effectLst/>
                <a:latin typeface="JetBrains Mono"/>
              </a:rPr>
              <a:t>reflectedXssChallenge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? </a:t>
            </a:r>
            <a:r>
              <a:rPr lang="fr-FR" sz="1200" dirty="0">
                <a:solidFill>
                  <a:srgbClr val="56A8F5"/>
                </a:solidFill>
                <a:effectLst/>
                <a:latin typeface="JetBrains Mono"/>
              </a:rPr>
              <a:t>String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(req.</a:t>
            </a:r>
            <a:r>
              <a:rPr lang="fr-FR" sz="1200" dirty="0">
                <a:solidFill>
                  <a:srgbClr val="C77DBB"/>
                </a:solidFill>
                <a:effectLst/>
                <a:latin typeface="JetBrains Mono"/>
              </a:rPr>
              <a:t>params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.id).</a:t>
            </a:r>
            <a:r>
              <a:rPr lang="fr-FR" sz="1200" dirty="0">
                <a:solidFill>
                  <a:srgbClr val="56A8F5"/>
                </a:solidFill>
                <a:effectLst/>
                <a:latin typeface="JetBrains Mono"/>
              </a:rPr>
              <a:t>replace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200" dirty="0">
                <a:solidFill>
                  <a:srgbClr val="42C3D4"/>
                </a:solidFill>
                <a:effectLst/>
                <a:latin typeface="JetBrains Mono"/>
              </a:rPr>
              <a:t>/[^\w-]+/g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fr-FR" sz="1200" dirty="0">
                <a:solidFill>
                  <a:srgbClr val="6AAB73"/>
                </a:solidFill>
                <a:effectLst/>
                <a:latin typeface="JetBrains Mono"/>
              </a:rPr>
              <a:t>''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: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utils.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trunc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(req.</a:t>
            </a:r>
            <a:r>
              <a:rPr lang="fr-FR" sz="1200" dirty="0">
                <a:solidFill>
                  <a:srgbClr val="C77DBB"/>
                </a:solidFill>
                <a:effectLst/>
                <a:latin typeface="JetBrains Mono"/>
              </a:rPr>
              <a:t>params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.id, </a:t>
            </a:r>
            <a:r>
              <a:rPr lang="fr-FR" sz="1200" dirty="0">
                <a:solidFill>
                  <a:srgbClr val="2AACB8"/>
                </a:solidFill>
                <a:effectLst/>
                <a:latin typeface="JetBrains Mono"/>
              </a:rPr>
              <a:t>60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challengeUtils.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solveIf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fr-FR" sz="1200" i="1" dirty="0" err="1">
                <a:solidFill>
                  <a:srgbClr val="C77DBA"/>
                </a:solidFill>
                <a:effectLst/>
                <a:latin typeface="JetBrains Mono"/>
              </a:rPr>
              <a:t>challenges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200" dirty="0" err="1">
                <a:solidFill>
                  <a:srgbClr val="C77DBB"/>
                </a:solidFill>
                <a:effectLst/>
                <a:latin typeface="JetBrains Mono"/>
              </a:rPr>
              <a:t>reflectedXssChallenge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() =&gt;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utils.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contains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200" dirty="0">
                <a:solidFill>
                  <a:srgbClr val="A9B7C6"/>
                </a:solidFill>
                <a:effectLst/>
                <a:latin typeface="JetBrains Mono"/>
              </a:rPr>
              <a:t>id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fr-FR" sz="1200" dirty="0">
                <a:solidFill>
                  <a:srgbClr val="6AAB73"/>
                </a:solidFill>
                <a:effectLst/>
                <a:latin typeface="JetBrains Mono"/>
              </a:rPr>
              <a:t>'&lt;</a:t>
            </a:r>
            <a:r>
              <a:rPr lang="fr-FR" sz="1200" dirty="0" err="1">
                <a:solidFill>
                  <a:srgbClr val="6AAB73"/>
                </a:solidFill>
                <a:effectLst/>
                <a:latin typeface="JetBrains Mono"/>
              </a:rPr>
              <a:t>iframe</a:t>
            </a:r>
            <a:r>
              <a:rPr lang="fr-FR" sz="1200" dirty="0">
                <a:solidFill>
                  <a:srgbClr val="6AAB73"/>
                </a:solidFill>
                <a:effectLst/>
                <a:latin typeface="JetBrains Mono"/>
              </a:rPr>
              <a:t> src="</a:t>
            </a:r>
            <a:r>
              <a:rPr lang="fr-FR" sz="1200" dirty="0" err="1">
                <a:solidFill>
                  <a:srgbClr val="6AAB73"/>
                </a:solidFill>
                <a:effectLst/>
                <a:latin typeface="JetBrains Mono"/>
              </a:rPr>
              <a:t>javascript:alert</a:t>
            </a:r>
            <a:r>
              <a:rPr lang="fr-FR" sz="1200" dirty="0">
                <a:solidFill>
                  <a:srgbClr val="6AAB73"/>
                </a:solidFill>
                <a:effectLst/>
                <a:latin typeface="JetBrains Mono"/>
              </a:rPr>
              <a:t>(`</a:t>
            </a:r>
            <a:r>
              <a:rPr lang="fr-FR" sz="1200" dirty="0" err="1">
                <a:solidFill>
                  <a:srgbClr val="6AAB73"/>
                </a:solidFill>
                <a:effectLst/>
                <a:latin typeface="JetBrains Mono"/>
              </a:rPr>
              <a:t>xss</a:t>
            </a:r>
            <a:r>
              <a:rPr lang="fr-FR" sz="1200" dirty="0">
                <a:solidFill>
                  <a:srgbClr val="6AAB73"/>
                </a:solidFill>
                <a:effectLst/>
                <a:latin typeface="JetBrains Mono"/>
              </a:rPr>
              <a:t>`)"&gt;'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db.</a:t>
            </a:r>
            <a:r>
              <a:rPr lang="fr-FR" sz="1200" i="1" dirty="0" err="1">
                <a:solidFill>
                  <a:srgbClr val="C77DBA"/>
                </a:solidFill>
                <a:effectLst/>
                <a:latin typeface="JetBrains Mono"/>
              </a:rPr>
              <a:t>ordersCollection</a:t>
            </a:r>
            <a:br>
              <a:rPr lang="fr-FR" sz="1200" i="1" dirty="0">
                <a:solidFill>
                  <a:srgbClr val="C77DBA"/>
                </a:solidFill>
                <a:effectLst/>
                <a:latin typeface="JetBrains Mono"/>
              </a:rPr>
            </a:br>
            <a:r>
              <a:rPr lang="fr-FR" sz="1200" i="1" dirty="0">
                <a:solidFill>
                  <a:srgbClr val="C77DBA"/>
                </a:solidFill>
                <a:effectLst/>
                <a:latin typeface="JetBrains Mono"/>
              </a:rPr>
              <a:t>     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find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({ </a:t>
            </a:r>
            <a:r>
              <a:rPr lang="fr-FR" sz="1200" dirty="0" err="1">
                <a:solidFill>
                  <a:srgbClr val="C77DBB"/>
                </a:solidFill>
                <a:effectLst/>
                <a:latin typeface="JetBrains Mono"/>
              </a:rPr>
              <a:t>orderId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200" dirty="0">
                <a:solidFill>
                  <a:srgbClr val="A9B7C6"/>
                </a:solidFill>
                <a:effectLst/>
                <a:latin typeface="JetBrains Mono"/>
              </a:rPr>
              <a:t>id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})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then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((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order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200" dirty="0" err="1">
                <a:solidFill>
                  <a:srgbClr val="CF8E6D"/>
                </a:solidFill>
                <a:effectLst/>
                <a:latin typeface="JetBrains Mono"/>
              </a:rPr>
              <a:t>any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 =&gt; {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fr-FR" sz="1200" dirty="0" err="1">
                <a:solidFill>
                  <a:srgbClr val="CF8E6D"/>
                </a:solidFill>
                <a:effectLst/>
                <a:latin typeface="JetBrains Mono"/>
              </a:rPr>
              <a:t>const</a:t>
            </a:r>
            <a:r>
              <a:rPr lang="fr-FR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fr-FR" sz="1200" dirty="0" err="1">
                <a:solidFill>
                  <a:srgbClr val="A9B7C6"/>
                </a:solidFill>
                <a:effectLst/>
                <a:latin typeface="JetBrains Mono"/>
              </a:rPr>
              <a:t>result</a:t>
            </a:r>
            <a:r>
              <a:rPr lang="fr-FR" sz="1200" dirty="0"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utils.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queryResultToJson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order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challengeUtils.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solveIf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    </a:t>
            </a:r>
            <a:r>
              <a:rPr lang="fr-FR" sz="1200" i="1" dirty="0" err="1">
                <a:solidFill>
                  <a:srgbClr val="C77DBA"/>
                </a:solidFill>
                <a:effectLst/>
                <a:latin typeface="JetBrains Mono"/>
              </a:rPr>
              <a:t>challenges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200" dirty="0" err="1">
                <a:solidFill>
                  <a:srgbClr val="C77DBB"/>
                </a:solidFill>
                <a:effectLst/>
                <a:latin typeface="JetBrains Mono"/>
              </a:rPr>
              <a:t>noSqlOrdersChallenge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    () =&gt; </a:t>
            </a:r>
            <a:r>
              <a:rPr lang="fr-FR" sz="1200" dirty="0" err="1">
                <a:solidFill>
                  <a:srgbClr val="A9B7C6"/>
                </a:solidFill>
                <a:effectLst/>
                <a:latin typeface="JetBrains Mono"/>
              </a:rPr>
              <a:t>result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200" i="1" dirty="0" err="1"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200" dirty="0" err="1">
                <a:solidFill>
                  <a:srgbClr val="C77DBB"/>
                </a:solidFill>
                <a:effectLst/>
                <a:latin typeface="JetBrains Mono"/>
              </a:rPr>
              <a:t>length</a:t>
            </a:r>
            <a:r>
              <a:rPr lang="fr-FR" sz="1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&gt; </a:t>
            </a:r>
            <a:r>
              <a:rPr lang="fr-FR" sz="12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br>
              <a:rPr lang="fr-FR" sz="12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2AACB8"/>
                </a:solidFill>
                <a:effectLst/>
                <a:latin typeface="JetBrains Mono"/>
              </a:rPr>
              <a:t>       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fr-FR" sz="12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200" dirty="0" err="1">
                <a:solidFill>
                  <a:srgbClr val="A9B7C6"/>
                </a:solidFill>
                <a:effectLst/>
                <a:latin typeface="JetBrains Mono"/>
              </a:rPr>
              <a:t>result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200" i="1" dirty="0" err="1"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fr-FR" sz="12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] === </a:t>
            </a:r>
            <a:r>
              <a:rPr lang="fr-FR" sz="1200" dirty="0" err="1">
                <a:solidFill>
                  <a:srgbClr val="CF8E6D"/>
                </a:solidFill>
                <a:effectLst/>
                <a:latin typeface="JetBrains Mono"/>
              </a:rPr>
              <a:t>undefined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 {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    </a:t>
            </a:r>
            <a:r>
              <a:rPr lang="fr-FR" sz="1200" dirty="0" err="1">
                <a:solidFill>
                  <a:srgbClr val="A9B7C6"/>
                </a:solidFill>
                <a:effectLst/>
                <a:latin typeface="JetBrains Mono"/>
              </a:rPr>
              <a:t>result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fr-FR" sz="1200" i="1" dirty="0" err="1"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fr-FR" sz="12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] = { </a:t>
            </a:r>
            <a:r>
              <a:rPr lang="fr-FR" sz="1200" dirty="0" err="1">
                <a:solidFill>
                  <a:srgbClr val="C77DBB"/>
                </a:solidFill>
                <a:effectLst/>
                <a:latin typeface="JetBrains Mono"/>
              </a:rPr>
              <a:t>orderId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200" dirty="0">
                <a:solidFill>
                  <a:srgbClr val="A9B7C6"/>
                </a:solidFill>
                <a:effectLst/>
                <a:latin typeface="JetBrains Mono"/>
              </a:rPr>
              <a:t>id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  }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res.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json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200" dirty="0" err="1">
                <a:solidFill>
                  <a:srgbClr val="A9B7C6"/>
                </a:solidFill>
                <a:effectLst/>
                <a:latin typeface="JetBrains Mono"/>
              </a:rPr>
              <a:t>result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})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.</a:t>
            </a:r>
            <a:r>
              <a:rPr lang="fr-FR" sz="1200" dirty="0">
                <a:solidFill>
                  <a:srgbClr val="56A8F5"/>
                </a:solidFill>
                <a:effectLst/>
                <a:latin typeface="JetBrains Mono"/>
              </a:rPr>
              <a:t>catch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(() =&gt; {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fr-FR" sz="1200" dirty="0" err="1">
                <a:solidFill>
                  <a:srgbClr val="BCBEC4"/>
                </a:solidFill>
                <a:effectLst/>
                <a:latin typeface="JetBrains Mono"/>
              </a:rPr>
              <a:t>res.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status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fr-FR" sz="1200" dirty="0">
                <a:solidFill>
                  <a:srgbClr val="2AACB8"/>
                </a:solidFill>
                <a:effectLst/>
                <a:latin typeface="JetBrains Mono"/>
              </a:rPr>
              <a:t>400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fr-FR" sz="1200" dirty="0" err="1">
                <a:solidFill>
                  <a:srgbClr val="56A8F5"/>
                </a:solidFill>
                <a:effectLst/>
                <a:latin typeface="JetBrains Mono"/>
              </a:rPr>
              <a:t>json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({ </a:t>
            </a:r>
            <a:r>
              <a:rPr lang="fr-FR" sz="1200" dirty="0" err="1">
                <a:solidFill>
                  <a:srgbClr val="C77DBB"/>
                </a:solidFill>
                <a:effectLst/>
                <a:latin typeface="JetBrains Mono"/>
              </a:rPr>
              <a:t>error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fr-FR" sz="12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fr-FR" sz="1200" dirty="0" err="1">
                <a:solidFill>
                  <a:srgbClr val="6AAB73"/>
                </a:solidFill>
                <a:effectLst/>
                <a:latin typeface="JetBrains Mono"/>
              </a:rPr>
              <a:t>Wrong</a:t>
            </a:r>
            <a:r>
              <a:rPr lang="fr-FR" sz="1200" dirty="0">
                <a:solidFill>
                  <a:srgbClr val="6AAB73"/>
                </a:solidFill>
                <a:effectLst/>
                <a:latin typeface="JetBrains Mono"/>
              </a:rPr>
              <a:t> Param' </a:t>
            </a: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})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    })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  }</a:t>
            </a:r>
            <a:b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fr-FR" sz="12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580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A5BD9D7C-1C25-BD2F-0ED6-4C479F2CE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43188"/>
            <a:ext cx="8839200" cy="465121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A24BACC-F7B7-3C85-0B7D-2C9C3B0851CA}"/>
              </a:ext>
            </a:extLst>
          </p:cNvPr>
          <p:cNvSpPr txBox="1"/>
          <p:nvPr/>
        </p:nvSpPr>
        <p:spPr>
          <a:xfrm>
            <a:off x="1676400" y="4994399"/>
            <a:ext cx="883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Les 2 erreurs ont été corrigé</a:t>
            </a:r>
          </a:p>
        </p:txBody>
      </p:sp>
    </p:spTree>
    <p:extLst>
      <p:ext uri="{BB962C8B-B14F-4D97-AF65-F5344CB8AC3E}">
        <p14:creationId xmlns:p14="http://schemas.microsoft.com/office/powerpoint/2010/main" val="6182215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1118</Words>
  <Application>Microsoft Office PowerPoint</Application>
  <PresentationFormat>Grand écran</PresentationFormat>
  <Paragraphs>39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JetBrains Mono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18177</dc:creator>
  <cp:lastModifiedBy>18177</cp:lastModifiedBy>
  <cp:revision>6</cp:revision>
  <dcterms:created xsi:type="dcterms:W3CDTF">2025-12-03T15:07:46Z</dcterms:created>
  <dcterms:modified xsi:type="dcterms:W3CDTF">2025-12-04T10:54:06Z</dcterms:modified>
</cp:coreProperties>
</file>