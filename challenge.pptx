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4FE83-4E67-4B11-9651-D80013001213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EA6AB5-6BBB-4482-81AC-22CBA400B7B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62295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A6AB5-6BBB-4482-81AC-22CBA400B7B3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0159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FE6C0B-B7A4-1CF0-AC8A-15A5DE24F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EC35D09-1D8D-B860-F5D3-B90668FC0F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1CC18EC-4D46-2CFB-D669-997779E24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1BF3A18-58CB-04D6-C0CA-E37C39DCE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B82C77-2061-8D3E-51E0-F8C056C25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69338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02F84D-C88A-5144-2FFB-A0E936C2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611B2A-7E37-C98D-294C-0E441FA805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11DB88-671C-2551-6A78-76520B3D1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277F5A-54B7-D976-4AE6-116300CC5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8F78D9-60BF-3E28-F3A7-675398C71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8062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260167-C894-969C-1634-1BA8AB0E5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F9F4E72-76E5-488A-67CB-0D160105C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C7ACD7-7171-7602-CAFA-C09AD3FD1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C30E6E-A6A6-B5EB-A848-C8935F1E5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A21218-AAB0-6130-0AF4-C923B9013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301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6DFBA1-AA99-D312-B0CF-7396A254D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045CB6-E336-A065-70EE-3D4A5E1AD5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80BD169-92AA-7EE6-7157-695937A269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BB5A0B-A7EC-20EE-5F14-23C86C953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51ACC-5731-993F-66EC-1ECF3CD44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B44A933-ED08-5646-BF0C-69D0532D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218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CB81BB-5394-DB63-F1AB-8FAAF8828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4C923E-D94F-781E-934B-7B8D5A8FCD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65192A1-8CB5-DCCA-433D-F68772915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0613533-81AC-882F-23AB-EA17926F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6180006-CB86-5DA1-EAE9-B060F41988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15B002B-DBC1-60CD-3C5C-5B2A2F2DC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C8E2EC9-8591-72A0-CB1E-32EE63B95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4332ADE-5D9E-30D3-AC1C-2A6307BB1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1743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B68E43-1FEE-9198-3C9F-B30F0C7F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C66E9FD-0D0F-0626-D2E9-18A6FCAD0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B5A8388-09E6-B948-7816-5C361BFC5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0EFB3DB-E8F1-917C-0444-9906E5AF9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9217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C8A82E6-71B5-E7E3-600F-5E4A955B5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0BA127E-8794-A753-B20D-B00B08681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0474B6-FE66-B198-56A5-792F0AEF2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068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6B7EB-4D99-933A-323B-E23F60836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7884B5-1B60-BC18-305B-28B25789C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921B14D-E7E2-F408-CB54-1229FA8F22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0884B08-09CA-79E5-95A2-F77CCFF7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6EC6339-C285-096C-6F77-9CF16F325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83182D-0004-57F6-C906-EF212630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1095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CCC89D-C0FD-A170-3AA5-88515B4F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FA2E91E-97F3-BB07-EBC0-C737EE3B39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07E17C3-8424-B9A0-A22E-E40F398DA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A5266A4-C1D7-27A9-49CE-6A3A4A7A4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A9EC87C-CCD2-3B25-EF60-C0C5F648D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855928B-505F-458C-1A21-D27A206DD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593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A749F9-A6E2-AE31-2EC1-9CE589990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7B3F136-709D-CED7-9C96-951C0DACFC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34396F-F9C7-0CD4-87EB-AC87EA14C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5B5E2B-8189-AFE5-E549-8EB93FCBB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4BB89C-BCA0-C8C8-AA7C-3B22F60A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756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52B3312-6FAA-C9F0-2FFB-81898931A2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A7BFDE-4E07-949F-8D78-690600A6E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CE448B5-1243-1DEA-244D-483E091D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B9274E-595C-0BDF-A9CB-549EFE508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2EDFF8B-8158-EE56-6F6C-403A54360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6181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9F5619B-129B-5EB9-B7B6-C9108403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71F25F-2855-39E5-9F79-E7F6413F9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EBA2C99-F4A6-0B78-8B9B-CA0D066470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29A52-80BD-49AB-A945-13D57F064CBF}" type="datetimeFigureOut">
              <a:rPr lang="fr-FR" smtClean="0"/>
              <a:t>03/12/2025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9654268-BF6D-51C0-3EF3-097A79E01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E466A7-6558-0300-EC7F-4E9350FEC8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3E5D2C-FDC5-4022-A55D-3F5D5C7EF36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7422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swigger.net/web-security/file-path-traversal" TargetMode="External"/><Relationship Id="rId2" Type="http://schemas.openxmlformats.org/officeDocument/2006/relationships/hyperlink" Target="https://owasp.org/www-community/attacks/Path_Traversa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44427D27-0DE7-0892-BE77-791B5E11A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51236"/>
            <a:ext cx="8284229" cy="430055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324ED43-0726-46A4-DEE7-CB620C14AE9D}"/>
              </a:ext>
            </a:extLst>
          </p:cNvPr>
          <p:cNvSpPr txBox="1"/>
          <p:nvPr/>
        </p:nvSpPr>
        <p:spPr>
          <a:xfrm>
            <a:off x="457200" y="409017"/>
            <a:ext cx="100451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https://portswigger.net/web-security/file-path-traversal/lab-validate-file-extension-null-byte-bypass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E7E7A77-E614-1628-1C68-E89A2470D7DE}"/>
              </a:ext>
            </a:extLst>
          </p:cNvPr>
          <p:cNvSpPr txBox="1"/>
          <p:nvPr/>
        </p:nvSpPr>
        <p:spPr>
          <a:xfrm>
            <a:off x="8865704" y="864489"/>
            <a:ext cx="28690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fr-FR" dirty="0"/>
              <a:t>On charge le site du </a:t>
            </a:r>
            <a:r>
              <a:rPr lang="fr-FR" dirty="0" err="1"/>
              <a:t>lab</a:t>
            </a:r>
            <a:r>
              <a:rPr lang="fr-FR" dirty="0"/>
              <a:t>, puis on navigue vers un produit</a:t>
            </a:r>
          </a:p>
          <a:p>
            <a:pPr marL="342900" indent="-342900">
              <a:buAutoNum type="arabicParenR"/>
            </a:pPr>
            <a:endParaRPr lang="fr-FR" dirty="0"/>
          </a:p>
          <a:p>
            <a:pPr marL="342900" indent="-342900">
              <a:buAutoNum type="arabicParenR"/>
            </a:pPr>
            <a:r>
              <a:rPr lang="fr-FR" dirty="0"/>
              <a:t>On intercepte la requête qui demande l’image</a:t>
            </a:r>
          </a:p>
        </p:txBody>
      </p:sp>
    </p:spTree>
    <p:extLst>
      <p:ext uri="{BB962C8B-B14F-4D97-AF65-F5344CB8AC3E}">
        <p14:creationId xmlns:p14="http://schemas.microsoft.com/office/powerpoint/2010/main" val="1093346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3554CA8-AF3F-F9B8-F2FF-23DE90C1B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761" y="365759"/>
            <a:ext cx="6636611" cy="4784659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BD85B01-D7C3-D7C9-3E2B-EDC4DF34CB5D}"/>
              </a:ext>
            </a:extLst>
          </p:cNvPr>
          <p:cNvSpPr txBox="1"/>
          <p:nvPr/>
        </p:nvSpPr>
        <p:spPr>
          <a:xfrm>
            <a:off x="7209182" y="365759"/>
            <a:ext cx="42208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eaLnBrk="1" latinLnBrk="0" hangingPunct="1">
              <a:buClrTx/>
              <a:buSzPts val="1800"/>
            </a:pPr>
            <a:r>
              <a:rPr lang="fr-FR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3) On modifie le paramètre </a:t>
            </a:r>
            <a:r>
              <a:rPr lang="fr-FR" sz="1800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filename</a:t>
            </a:r>
            <a:r>
              <a:rPr lang="fr-FR" sz="18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, en remplaçant le nom de l’image par un chemin vers un fichier système sensible</a:t>
            </a:r>
            <a:endParaRPr lang="fr-FR" sz="1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8960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34E2CFAA-4C06-2F7C-4CBE-22EDD2678FD1}"/>
              </a:ext>
            </a:extLst>
          </p:cNvPr>
          <p:cNvSpPr txBox="1"/>
          <p:nvPr/>
        </p:nvSpPr>
        <p:spPr>
          <a:xfrm>
            <a:off x="424070" y="835396"/>
            <a:ext cx="1033006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- Ne jamais utiliser les données utilisateur pour construire un chemin de fichier.</a:t>
            </a:r>
          </a:p>
          <a:p>
            <a:r>
              <a:rPr lang="fr-FR" sz="1400" dirty="0"/>
              <a:t>- Canonicaliser le chemin (</a:t>
            </a:r>
            <a:r>
              <a:rPr lang="fr-FR" sz="1400" dirty="0" err="1"/>
              <a:t>realpath</a:t>
            </a:r>
            <a:r>
              <a:rPr lang="fr-FR" sz="1400" dirty="0"/>
              <a:t> / </a:t>
            </a:r>
            <a:r>
              <a:rPr lang="fr-FR" sz="1400" dirty="0" err="1"/>
              <a:t>getCanonicalPath</a:t>
            </a:r>
            <a:r>
              <a:rPr lang="fr-FR" sz="1400" dirty="0"/>
              <a:t>).</a:t>
            </a:r>
          </a:p>
          <a:p>
            <a:r>
              <a:rPr lang="fr-FR" sz="1400" dirty="0"/>
              <a:t>- Vérifier que le chemin canonicalisé reste dans un répertoire autorisé (</a:t>
            </a:r>
            <a:r>
              <a:rPr lang="fr-FR" sz="1400" dirty="0" err="1"/>
              <a:t>sandbox</a:t>
            </a:r>
            <a:r>
              <a:rPr lang="fr-FR" sz="1400" dirty="0"/>
              <a:t>).</a:t>
            </a:r>
          </a:p>
          <a:p>
            <a:r>
              <a:rPr lang="fr-FR" sz="1400" dirty="0"/>
              <a:t>- Filtrer les séquences interdites : ../ , ..\, %2e%2e, %00, etc.</a:t>
            </a:r>
          </a:p>
          <a:p>
            <a:r>
              <a:rPr lang="fr-FR" sz="1400" dirty="0"/>
              <a:t>- Utiliser une whitelist stricte de fichiers / extensions autorisées.</a:t>
            </a:r>
          </a:p>
          <a:p>
            <a:r>
              <a:rPr lang="fr-FR" sz="1400" dirty="0"/>
              <a:t>- Ne pas se baser uniquement sur l’extension pour valider un fichier.</a:t>
            </a:r>
          </a:p>
          <a:p>
            <a:r>
              <a:rPr lang="fr-FR" sz="1400" dirty="0"/>
              <a:t>- Renommer les fichiers uploadés avec des noms internes (UUID).</a:t>
            </a:r>
          </a:p>
          <a:p>
            <a:r>
              <a:rPr lang="fr-FR" sz="1400" dirty="0"/>
              <a:t>- Stocker les fichiers dans un répertoire non accessible directement.</a:t>
            </a:r>
          </a:p>
          <a:p>
            <a:r>
              <a:rPr lang="fr-FR" sz="1400" dirty="0"/>
              <a:t>- Désactiver la prise en charge des </a:t>
            </a:r>
            <a:r>
              <a:rPr lang="fr-FR" sz="1400" dirty="0" err="1"/>
              <a:t>null</a:t>
            </a:r>
            <a:r>
              <a:rPr lang="fr-FR" sz="1400" dirty="0"/>
              <a:t> bytes.</a:t>
            </a:r>
          </a:p>
          <a:p>
            <a:r>
              <a:rPr lang="fr-FR" sz="1400" dirty="0"/>
              <a:t>- Limiter les permissions du dossier contenant les fichiers.</a:t>
            </a:r>
          </a:p>
          <a:p>
            <a:endParaRPr lang="fr-FR" sz="1400" dirty="0"/>
          </a:p>
          <a:p>
            <a:r>
              <a:rPr lang="fr-FR" sz="1400" dirty="0"/>
              <a:t>Références</a:t>
            </a:r>
          </a:p>
          <a:p>
            <a:endParaRPr lang="fr-FR" sz="1400" dirty="0"/>
          </a:p>
          <a:p>
            <a:r>
              <a:rPr lang="fr-FR" sz="1400" dirty="0"/>
              <a:t>OWASP Path </a:t>
            </a:r>
            <a:r>
              <a:rPr lang="fr-FR" sz="1400" dirty="0" err="1"/>
              <a:t>Traversal</a:t>
            </a:r>
            <a:r>
              <a:rPr lang="fr-FR" sz="1400" dirty="0"/>
              <a:t>: </a:t>
            </a:r>
            <a:br>
              <a:rPr lang="fr-FR" sz="1400" dirty="0"/>
            </a:br>
            <a:r>
              <a:rPr lang="fr-FR" sz="1400" dirty="0">
                <a:hlinkClick r:id="rId2"/>
              </a:rPr>
              <a:t>https://owasp.org/www-community/attacks/Path_Traversal</a:t>
            </a:r>
            <a:endParaRPr lang="fr-FR" sz="1400" dirty="0"/>
          </a:p>
          <a:p>
            <a:endParaRPr lang="fr-FR" sz="1400" dirty="0"/>
          </a:p>
          <a:p>
            <a:r>
              <a:rPr lang="fr-FR" sz="1400" dirty="0" err="1"/>
              <a:t>PortSwigger</a:t>
            </a:r>
            <a:r>
              <a:rPr lang="fr-FR" sz="1400" dirty="0"/>
              <a:t> File Path </a:t>
            </a:r>
            <a:r>
              <a:rPr lang="fr-FR" sz="1400" dirty="0" err="1"/>
              <a:t>Traversal</a:t>
            </a:r>
            <a:r>
              <a:rPr lang="fr-FR" sz="1400" dirty="0"/>
              <a:t> Prevention: </a:t>
            </a:r>
            <a:br>
              <a:rPr lang="fr-FR" sz="1400" dirty="0"/>
            </a:br>
            <a:r>
              <a:rPr lang="fr-FR" sz="1400" dirty="0">
                <a:hlinkClick r:id="rId3"/>
              </a:rPr>
              <a:t>https://portswigger.net/web-security/file-path-traversal</a:t>
            </a:r>
            <a:endParaRPr lang="fr-FR" sz="1400" dirty="0"/>
          </a:p>
          <a:p>
            <a:endParaRPr lang="fr-FR" sz="1400" dirty="0"/>
          </a:p>
          <a:p>
            <a:r>
              <a:rPr lang="fr-FR" sz="1400" dirty="0"/>
              <a:t>MITRE CWE-22 Path </a:t>
            </a:r>
            <a:r>
              <a:rPr lang="fr-FR" sz="1400" dirty="0" err="1"/>
              <a:t>Traversal</a:t>
            </a:r>
            <a:r>
              <a:rPr lang="fr-FR" sz="1400" dirty="0"/>
              <a:t>: </a:t>
            </a:r>
            <a:br>
              <a:rPr lang="fr-FR" sz="1400" dirty="0"/>
            </a:br>
            <a:r>
              <a:rPr lang="fr-FR" sz="1400" dirty="0"/>
              <a:t>https://cwe.mitre.org/data/definitions/22.html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4F828FB-6161-96FC-FF70-B2D3A7E9C9C2}"/>
              </a:ext>
            </a:extLst>
          </p:cNvPr>
          <p:cNvSpPr txBox="1"/>
          <p:nvPr/>
        </p:nvSpPr>
        <p:spPr>
          <a:xfrm>
            <a:off x="424070" y="33584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fr-FR" sz="14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Recommandations pour prévenir les Path </a:t>
            </a:r>
            <a:r>
              <a:rPr lang="fr-FR" sz="1400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Traversal</a:t>
            </a:r>
            <a:endParaRPr lang="fr-FR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40013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0EDE91F-727A-0508-832A-8CB81543E174}"/>
              </a:ext>
            </a:extLst>
          </p:cNvPr>
          <p:cNvSpPr txBox="1"/>
          <p:nvPr/>
        </p:nvSpPr>
        <p:spPr>
          <a:xfrm>
            <a:off x="397565" y="375887"/>
            <a:ext cx="10787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https://portswigger.net/web-security/csrf/bypassing-token-validation/lab-token-not-tied-to-user-session</a:t>
            </a:r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50039FA-E9DE-B5B9-AFE7-3C9105BDB46D}"/>
              </a:ext>
            </a:extLst>
          </p:cNvPr>
          <p:cNvSpPr txBox="1"/>
          <p:nvPr/>
        </p:nvSpPr>
        <p:spPr>
          <a:xfrm>
            <a:off x="397565" y="5374607"/>
            <a:ext cx="75295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On intercepte la demande de changement de mail pour récupérer le </a:t>
            </a:r>
            <a:r>
              <a:rPr lang="fr-FR" sz="1800" b="0" i="0" u="none" strike="noStrike" baseline="0" dirty="0" err="1">
                <a:latin typeface="Arial" panose="020B0604020202020204" pitchFamily="34" charset="0"/>
              </a:rPr>
              <a:t>csrf</a:t>
            </a:r>
            <a:endParaRPr lang="fr-FR" dirty="0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D2DCC4B2-A100-6BDF-A880-517562807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2" y="871828"/>
            <a:ext cx="6947927" cy="4276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598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63DE1D25-E71B-808D-66D4-B523FC19538C}"/>
              </a:ext>
            </a:extLst>
          </p:cNvPr>
          <p:cNvSpPr txBox="1"/>
          <p:nvPr/>
        </p:nvSpPr>
        <p:spPr>
          <a:xfrm>
            <a:off x="583649" y="4403187"/>
            <a:ext cx="69846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Dans la session de </a:t>
            </a:r>
            <a:r>
              <a:rPr lang="fr-FR" sz="1800" b="0" i="0" u="none" strike="noStrike" baseline="0" dirty="0" err="1">
                <a:latin typeface="Arial" panose="020B0604020202020204" pitchFamily="34" charset="0"/>
              </a:rPr>
              <a:t>carlos</a:t>
            </a:r>
            <a:r>
              <a:rPr lang="fr-FR" sz="1800" b="0" i="0" u="none" strike="noStrike" baseline="0" dirty="0">
                <a:latin typeface="Arial" panose="020B0604020202020204" pitchFamily="34" charset="0"/>
              </a:rPr>
              <a:t> on intercept aussi le changement d’email mais on le renvoi dans le répéter avec le </a:t>
            </a:r>
            <a:r>
              <a:rPr lang="fr-FR" sz="1800" b="0" i="0" u="none" strike="noStrike" baseline="0" dirty="0" err="1">
                <a:latin typeface="Arial" panose="020B0604020202020204" pitchFamily="34" charset="0"/>
              </a:rPr>
              <a:t>csrf</a:t>
            </a:r>
            <a:r>
              <a:rPr lang="fr-FR" sz="1800" b="0" i="0" u="none" strike="noStrike" baseline="0" dirty="0">
                <a:latin typeface="Arial" panose="020B0604020202020204" pitchFamily="34" charset="0"/>
              </a:rPr>
              <a:t> de </a:t>
            </a:r>
            <a:r>
              <a:rPr lang="fr-FR" sz="1800" b="0" i="0" u="none" strike="noStrike" baseline="0" dirty="0" err="1">
                <a:latin typeface="Arial" panose="020B0604020202020204" pitchFamily="34" charset="0"/>
              </a:rPr>
              <a:t>wiener</a:t>
            </a:r>
            <a:endParaRPr lang="fr-FR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58BE64C3-35BE-7C78-D57C-028B479C9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49" y="355410"/>
            <a:ext cx="7634389" cy="389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81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B91BD428-0800-2F77-7FEC-798CC53FC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649" y="340953"/>
            <a:ext cx="8145194" cy="4062234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415091C-50BC-CE4B-9B83-B83BCF8A4518}"/>
              </a:ext>
            </a:extLst>
          </p:cNvPr>
          <p:cNvSpPr txBox="1"/>
          <p:nvPr/>
        </p:nvSpPr>
        <p:spPr>
          <a:xfrm>
            <a:off x="583649" y="4403187"/>
            <a:ext cx="10332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On constate que ça marche donc il y a bien une faille </a:t>
            </a:r>
            <a:r>
              <a:rPr lang="fr-FR" sz="1800" b="0" i="0" u="none" strike="noStrike" baseline="0" dirty="0" err="1">
                <a:latin typeface="Arial" panose="020B0604020202020204" pitchFamily="34" charset="0"/>
              </a:rPr>
              <a:t>csrf</a:t>
            </a:r>
            <a:r>
              <a:rPr lang="fr-FR" sz="1800" b="0" i="0" u="none" strike="noStrike" baseline="0" dirty="0">
                <a:latin typeface="Arial" panose="020B0604020202020204" pitchFamily="34" charset="0"/>
              </a:rPr>
              <a:t>, on a pu changer l’email d’un compte avec le </a:t>
            </a:r>
            <a:r>
              <a:rPr lang="fr-FR" sz="1800" b="0" i="0" u="none" strike="noStrike" baseline="0" dirty="0" err="1">
                <a:latin typeface="Arial" panose="020B0604020202020204" pitchFamily="34" charset="0"/>
              </a:rPr>
              <a:t>csrf</a:t>
            </a:r>
            <a:r>
              <a:rPr lang="fr-FR" sz="1800" b="0" i="0" u="none" strike="noStrike" baseline="0" dirty="0">
                <a:latin typeface="Arial" panose="020B0604020202020204" pitchFamily="34" charset="0"/>
              </a:rPr>
              <a:t> d’un autre compte</a:t>
            </a:r>
            <a:endParaRPr lang="fr-FR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AACEA76A-C74C-5A9D-6BFB-F66C80637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281" y="1589649"/>
            <a:ext cx="3669239" cy="250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14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>
            <a:extLst>
              <a:ext uri="{FF2B5EF4-FFF2-40B4-BE49-F238E27FC236}">
                <a16:creationId xmlns:a16="http://schemas.microsoft.com/office/drawing/2014/main" id="{06071153-2DA9-2A3B-74D5-D21481660855}"/>
              </a:ext>
            </a:extLst>
          </p:cNvPr>
          <p:cNvSpPr txBox="1"/>
          <p:nvPr/>
        </p:nvSpPr>
        <p:spPr>
          <a:xfrm>
            <a:off x="278850" y="361274"/>
            <a:ext cx="8275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On a vu qu’il y a une faille </a:t>
            </a:r>
            <a:r>
              <a:rPr lang="fr-FR" sz="1800" b="0" i="0" u="none" strike="noStrike" baseline="0" dirty="0" err="1">
                <a:latin typeface="Arial" panose="020B0604020202020204" pitchFamily="34" charset="0"/>
              </a:rPr>
              <a:t>csrf</a:t>
            </a:r>
            <a:r>
              <a:rPr lang="fr-FR" sz="1800" b="0" i="0" u="none" strike="noStrike" baseline="0" dirty="0">
                <a:latin typeface="Arial" panose="020B0604020202020204" pitchFamily="34" charset="0"/>
              </a:rPr>
              <a:t> donc on créer maintenant notre exploit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711ABEE-06DB-46B9-DB64-BE6ECF512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50" y="781777"/>
            <a:ext cx="5265108" cy="5519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989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ZoneTexte 9">
            <a:extLst>
              <a:ext uri="{FF2B5EF4-FFF2-40B4-BE49-F238E27FC236}">
                <a16:creationId xmlns:a16="http://schemas.microsoft.com/office/drawing/2014/main" id="{C77D4569-EC17-63FF-5115-B9F19FB719FE}"/>
              </a:ext>
            </a:extLst>
          </p:cNvPr>
          <p:cNvSpPr txBox="1"/>
          <p:nvPr/>
        </p:nvSpPr>
        <p:spPr>
          <a:xfrm>
            <a:off x="424070" y="828771"/>
            <a:ext cx="1033006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- Lier le </a:t>
            </a:r>
            <a:r>
              <a:rPr lang="fr-FR" sz="1400" dirty="0" err="1"/>
              <a:t>token</a:t>
            </a:r>
            <a:r>
              <a:rPr lang="fr-FR" sz="1400" dirty="0"/>
              <a:t> CSRF à la session utilisateur.</a:t>
            </a:r>
          </a:p>
          <a:p>
            <a:r>
              <a:rPr lang="fr-FR" sz="1400" dirty="0"/>
              <a:t>- Générer des </a:t>
            </a:r>
            <a:r>
              <a:rPr lang="fr-FR" sz="1400" dirty="0" err="1"/>
              <a:t>tokens</a:t>
            </a:r>
            <a:r>
              <a:rPr lang="fr-FR" sz="1400" dirty="0"/>
              <a:t> CSRF aléatoires, uniques et expirants.</a:t>
            </a:r>
          </a:p>
          <a:p>
            <a:r>
              <a:rPr lang="fr-FR" sz="1400" dirty="0"/>
              <a:t>- Vérifier systématiquement les en-têtes Origin et/ou </a:t>
            </a:r>
            <a:r>
              <a:rPr lang="fr-FR" sz="1400" dirty="0" err="1"/>
              <a:t>Referer</a:t>
            </a:r>
            <a:r>
              <a:rPr lang="fr-FR" sz="1400" dirty="0"/>
              <a:t>.</a:t>
            </a:r>
          </a:p>
          <a:p>
            <a:r>
              <a:rPr lang="fr-FR" sz="1400" dirty="0"/>
              <a:t>- Configurer les cookies de session avec </a:t>
            </a:r>
            <a:r>
              <a:rPr lang="fr-FR" sz="1400" dirty="0" err="1"/>
              <a:t>SameSite</a:t>
            </a:r>
            <a:r>
              <a:rPr lang="fr-FR" sz="1400" dirty="0"/>
              <a:t>=Strict, </a:t>
            </a:r>
            <a:r>
              <a:rPr lang="fr-FR" sz="1400" dirty="0" err="1"/>
              <a:t>HttpOnly</a:t>
            </a:r>
            <a:r>
              <a:rPr lang="fr-FR" sz="1400" dirty="0"/>
              <a:t> et Secure.</a:t>
            </a:r>
          </a:p>
          <a:p>
            <a:r>
              <a:rPr lang="fr-FR" sz="1400" dirty="0"/>
              <a:t>- Exiger un header personnalisé pour les actions sensibles (ex. X-</a:t>
            </a:r>
            <a:r>
              <a:rPr lang="fr-FR" sz="1400" dirty="0" err="1"/>
              <a:t>Requested</a:t>
            </a:r>
            <a:r>
              <a:rPr lang="fr-FR" sz="1400" dirty="0"/>
              <a:t>-</a:t>
            </a:r>
            <a:r>
              <a:rPr lang="fr-FR" sz="1400" dirty="0" err="1"/>
              <a:t>With</a:t>
            </a:r>
            <a:r>
              <a:rPr lang="fr-FR" sz="1400" dirty="0"/>
              <a:t>).</a:t>
            </a:r>
          </a:p>
          <a:p>
            <a:r>
              <a:rPr lang="fr-FR" sz="1400" dirty="0"/>
              <a:t>- Implémenter le </a:t>
            </a:r>
            <a:r>
              <a:rPr lang="fr-FR" sz="1400" dirty="0" err="1"/>
              <a:t>Synchronizer</a:t>
            </a:r>
            <a:r>
              <a:rPr lang="fr-FR" sz="1400" dirty="0"/>
              <a:t> </a:t>
            </a:r>
            <a:r>
              <a:rPr lang="fr-FR" sz="1400" dirty="0" err="1"/>
              <a:t>Token</a:t>
            </a:r>
            <a:r>
              <a:rPr lang="fr-FR" sz="1400" dirty="0"/>
              <a:t> Pattern (</a:t>
            </a:r>
            <a:r>
              <a:rPr lang="fr-FR" sz="1400" dirty="0" err="1"/>
              <a:t>token</a:t>
            </a:r>
            <a:r>
              <a:rPr lang="fr-FR" sz="1400" dirty="0"/>
              <a:t> stocké côté serveur par session).</a:t>
            </a:r>
          </a:p>
          <a:p>
            <a:r>
              <a:rPr lang="fr-FR" sz="1400" dirty="0"/>
              <a:t>- Restreindre les méthodes HTTP utilisées pour les actions critiques (POST uniquement).</a:t>
            </a:r>
          </a:p>
          <a:p>
            <a:r>
              <a:rPr lang="fr-FR" sz="1400" dirty="0"/>
              <a:t>- Refuser toute action sensible sans authentification active et session valide.</a:t>
            </a:r>
          </a:p>
          <a:p>
            <a:r>
              <a:rPr lang="fr-FR" sz="1400" dirty="0"/>
              <a:t>- Désactiver l’</a:t>
            </a:r>
            <a:r>
              <a:rPr lang="fr-FR" sz="1400" dirty="0" err="1"/>
              <a:t>autocomplétion</a:t>
            </a:r>
            <a:r>
              <a:rPr lang="fr-FR" sz="1400" dirty="0"/>
              <a:t> sur les formulaires sensibles.</a:t>
            </a:r>
          </a:p>
          <a:p>
            <a:r>
              <a:rPr lang="fr-FR" sz="1400" dirty="0"/>
              <a:t>- Protéger les </a:t>
            </a:r>
            <a:r>
              <a:rPr lang="fr-FR" sz="1400" dirty="0" err="1"/>
              <a:t>endpoints</a:t>
            </a:r>
            <a:r>
              <a:rPr lang="fr-FR" sz="1400" dirty="0"/>
              <a:t> critiques (ACL, MFA, </a:t>
            </a:r>
            <a:r>
              <a:rPr lang="fr-FR" sz="1400" dirty="0" err="1"/>
              <a:t>token</a:t>
            </a:r>
            <a:r>
              <a:rPr lang="fr-FR" sz="1400" dirty="0"/>
              <a:t> one-time).</a:t>
            </a:r>
          </a:p>
          <a:p>
            <a:endParaRPr lang="fr-FR" sz="1400" dirty="0"/>
          </a:p>
          <a:p>
            <a:r>
              <a:rPr lang="fr-FR" sz="1400" dirty="0"/>
              <a:t>Références</a:t>
            </a:r>
          </a:p>
          <a:p>
            <a:endParaRPr lang="fr-FR" sz="1400" dirty="0"/>
          </a:p>
          <a:p>
            <a:r>
              <a:rPr lang="fr-FR" sz="1400" dirty="0" err="1"/>
              <a:t>PortSwigger</a:t>
            </a:r>
            <a:r>
              <a:rPr lang="fr-FR" sz="1400" dirty="0"/>
              <a:t> CSRF </a:t>
            </a:r>
            <a:r>
              <a:rPr lang="fr-FR" sz="1400" dirty="0" err="1"/>
              <a:t>tokens</a:t>
            </a:r>
            <a:endParaRPr lang="fr-FR" sz="1400" dirty="0"/>
          </a:p>
          <a:p>
            <a:r>
              <a:rPr lang="fr-FR" sz="1400" dirty="0"/>
              <a:t>https://portswigger.net/web-security/csrf/tokens</a:t>
            </a:r>
          </a:p>
          <a:p>
            <a:endParaRPr lang="fr-FR" sz="1400" dirty="0"/>
          </a:p>
          <a:p>
            <a:r>
              <a:rPr lang="fr-FR" sz="1400" dirty="0" err="1"/>
              <a:t>PortSwigger</a:t>
            </a:r>
            <a:r>
              <a:rPr lang="fr-FR" sz="1400" dirty="0"/>
              <a:t>  Défenses CSRF</a:t>
            </a:r>
          </a:p>
          <a:p>
            <a:r>
              <a:rPr lang="fr-FR" sz="1400" dirty="0"/>
              <a:t>https://portswigger.net/web-security/csrf#defending-against-csrf</a:t>
            </a:r>
          </a:p>
          <a:p>
            <a:endParaRPr lang="fr-FR" sz="1400" dirty="0"/>
          </a:p>
          <a:p>
            <a:r>
              <a:rPr lang="fr-FR" sz="1400" dirty="0"/>
              <a:t>OWASP CSRF Prevention </a:t>
            </a:r>
            <a:r>
              <a:rPr lang="fr-FR" sz="1400" dirty="0" err="1"/>
              <a:t>Cheat</a:t>
            </a:r>
            <a:r>
              <a:rPr lang="fr-FR" sz="1400" dirty="0"/>
              <a:t> </a:t>
            </a:r>
            <a:r>
              <a:rPr lang="fr-FR" sz="1400" dirty="0" err="1"/>
              <a:t>Sheet</a:t>
            </a:r>
            <a:endParaRPr lang="fr-FR" sz="1400" dirty="0"/>
          </a:p>
          <a:p>
            <a:r>
              <a:rPr lang="fr-FR" sz="1400" dirty="0"/>
              <a:t>https://cheatsheetseries.owasp.org/cheatsheets/Cross-Site_Request_Forgery_Prevention_Cheat_Sheet.html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214FC9A-651B-BA35-BA0E-3751F9AA3674}"/>
              </a:ext>
            </a:extLst>
          </p:cNvPr>
          <p:cNvSpPr txBox="1"/>
          <p:nvPr/>
        </p:nvSpPr>
        <p:spPr>
          <a:xfrm>
            <a:off x="424070" y="33584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fr-FR" sz="14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Recommandations pour prévenir les failles CSRF</a:t>
            </a:r>
            <a:endParaRPr lang="fr-FR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38871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7665727-6FAB-2590-9C20-3AA265AE2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13" y="693876"/>
            <a:ext cx="4783413" cy="210428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FA4289A5-E0B4-C278-CBDD-FDBF1B92724E}"/>
              </a:ext>
            </a:extLst>
          </p:cNvPr>
          <p:cNvSpPr txBox="1"/>
          <p:nvPr/>
        </p:nvSpPr>
        <p:spPr>
          <a:xfrm>
            <a:off x="304214" y="249992"/>
            <a:ext cx="6838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https://www.root-me.org/fr/Challenges/Web-Serveur/PHP-Filters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C9F80E2-5059-37A0-88E2-2B9B27DFA638}"/>
              </a:ext>
            </a:extLst>
          </p:cNvPr>
          <p:cNvSpPr txBox="1"/>
          <p:nvPr/>
        </p:nvSpPr>
        <p:spPr>
          <a:xfrm>
            <a:off x="404813" y="2798156"/>
            <a:ext cx="6838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On voit que la redirection se fait à partir de l’url ?</a:t>
            </a:r>
            <a:r>
              <a:rPr lang="fr-FR" sz="1800" b="0" i="0" u="none" strike="noStrike" baseline="0" dirty="0" err="1">
                <a:latin typeface="Arial" panose="020B0604020202020204" pitchFamily="34" charset="0"/>
              </a:rPr>
              <a:t>inc</a:t>
            </a:r>
            <a:r>
              <a:rPr lang="fr-FR" sz="1800" b="0" i="0" u="none" strike="noStrike" baseline="0" dirty="0">
                <a:latin typeface="Arial" panose="020B0604020202020204" pitchFamily="34" charset="0"/>
              </a:rPr>
              <a:t>=xxx</a:t>
            </a:r>
            <a:endParaRPr lang="fr-FR" dirty="0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1EDB869-3296-3233-9040-007920DCA62E}"/>
              </a:ext>
            </a:extLst>
          </p:cNvPr>
          <p:cNvSpPr/>
          <p:nvPr/>
        </p:nvSpPr>
        <p:spPr>
          <a:xfrm>
            <a:off x="3604592" y="1279123"/>
            <a:ext cx="1060174" cy="3048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D0D3261-EC88-EC70-205E-304C6DA51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3" y="3477964"/>
            <a:ext cx="5316400" cy="2328143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EA9DC20E-5A86-EC69-295D-3F709AAFCB13}"/>
              </a:ext>
            </a:extLst>
          </p:cNvPr>
          <p:cNvSpPr txBox="1"/>
          <p:nvPr/>
        </p:nvSpPr>
        <p:spPr>
          <a:xfrm>
            <a:off x="5805074" y="3505847"/>
            <a:ext cx="5923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Ici </a:t>
            </a:r>
            <a:r>
              <a:rPr lang="fr-FR" sz="1800" b="0" i="0" u="none" strike="noStrike" baseline="0" dirty="0" err="1">
                <a:latin typeface="Arial" panose="020B0604020202020204" pitchFamily="34" charset="0"/>
              </a:rPr>
              <a:t>index.php</a:t>
            </a:r>
            <a:r>
              <a:rPr lang="fr-FR" sz="1800" b="0" i="0" u="none" strike="noStrike" baseline="0" dirty="0">
                <a:latin typeface="Arial" panose="020B0604020202020204" pitchFamily="34" charset="0"/>
              </a:rPr>
              <a:t> </a:t>
            </a:r>
            <a:r>
              <a:rPr lang="fr-FR" sz="1800" b="0" i="0" u="none" strike="noStrike" baseline="0" dirty="0" err="1">
                <a:latin typeface="Arial" panose="020B0604020202020204" pitchFamily="34" charset="0"/>
              </a:rPr>
              <a:t>excute</a:t>
            </a:r>
            <a:r>
              <a:rPr lang="fr-FR" sz="1800" b="0" i="0" u="none" strike="noStrike" baseline="0" dirty="0">
                <a:latin typeface="Arial" panose="020B0604020202020204" pitchFamily="34" charset="0"/>
              </a:rPr>
              <a:t> la page pas le code donc il faut forcer PHP à lire le fichier pas l’exécuter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58856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D65AAD64-AED9-E004-772F-785B3A42E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348322"/>
            <a:ext cx="10925175" cy="363855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08B659C-0335-983A-8543-5BBC78944029}"/>
              </a:ext>
            </a:extLst>
          </p:cNvPr>
          <p:cNvSpPr txBox="1"/>
          <p:nvPr/>
        </p:nvSpPr>
        <p:spPr>
          <a:xfrm>
            <a:off x="633411" y="4066617"/>
            <a:ext cx="109251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php://filter permet de lire un fichier sans l’exécuter</a:t>
            </a:r>
            <a:br>
              <a:rPr lang="fr-FR" dirty="0"/>
            </a:br>
            <a:r>
              <a:rPr lang="fr-FR" dirty="0"/>
              <a:t>convert.base64-encode renvoie le contenu encodé</a:t>
            </a:r>
          </a:p>
        </p:txBody>
      </p:sp>
    </p:spTree>
    <p:extLst>
      <p:ext uri="{BB962C8B-B14F-4D97-AF65-F5344CB8AC3E}">
        <p14:creationId xmlns:p14="http://schemas.microsoft.com/office/powerpoint/2010/main" val="3328423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ED06ADBC-824D-BECA-6C7A-9693ADA33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639" y="251792"/>
            <a:ext cx="6838220" cy="50292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8EF99358-8C88-35A5-C505-AA0CFDC0FC7C}"/>
              </a:ext>
            </a:extLst>
          </p:cNvPr>
          <p:cNvSpPr txBox="1"/>
          <p:nvPr/>
        </p:nvSpPr>
        <p:spPr>
          <a:xfrm>
            <a:off x="7118859" y="587922"/>
            <a:ext cx="479250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On obtient ça on voit que le code </a:t>
            </a:r>
            <a:r>
              <a:rPr lang="fr-FR" dirty="0" err="1"/>
              <a:t>include</a:t>
            </a:r>
            <a:r>
              <a:rPr lang="fr-FR" dirty="0"/>
              <a:t> </a:t>
            </a:r>
            <a:r>
              <a:rPr lang="fr-FR" dirty="0" err="1"/>
              <a:t>config.php</a:t>
            </a:r>
            <a:endParaRPr lang="fr-FR" dirty="0"/>
          </a:p>
          <a:p>
            <a:endParaRPr lang="fr-FR" dirty="0"/>
          </a:p>
          <a:p>
            <a:r>
              <a:rPr lang="fr-FR" dirty="0"/>
              <a:t>Donc on va </a:t>
            </a:r>
            <a:r>
              <a:rPr lang="fr-FR" dirty="0" err="1"/>
              <a:t>tcheck</a:t>
            </a:r>
            <a:r>
              <a:rPr lang="fr-FR" dirty="0"/>
              <a:t> </a:t>
            </a:r>
            <a:r>
              <a:rPr lang="fr-FR" dirty="0" err="1"/>
              <a:t>config.php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359F7CF-3042-7309-6F89-16C3708EB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5443" y="1975772"/>
            <a:ext cx="4674445" cy="1284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969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F0B3E02-40FB-0B2E-666D-440406418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352" y="258624"/>
            <a:ext cx="64484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07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5BAC3F41-4D86-AC60-F253-3B3C3D26E7DC}"/>
              </a:ext>
            </a:extLst>
          </p:cNvPr>
          <p:cNvSpPr txBox="1"/>
          <p:nvPr/>
        </p:nvSpPr>
        <p:spPr>
          <a:xfrm>
            <a:off x="424070" y="828771"/>
            <a:ext cx="1033006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- Ne jamais inclure un fichier à partir d’un paramètre utilisateur.</a:t>
            </a:r>
          </a:p>
          <a:p>
            <a:r>
              <a:rPr lang="fr-FR" sz="1400" dirty="0"/>
              <a:t>- Utiliser une whitelist de fichiers autorisés pour tout </a:t>
            </a:r>
            <a:r>
              <a:rPr lang="fr-FR" sz="1400" dirty="0" err="1"/>
              <a:t>include</a:t>
            </a:r>
            <a:r>
              <a:rPr lang="fr-FR" sz="1400" dirty="0"/>
              <a:t>.</a:t>
            </a:r>
          </a:p>
          <a:p>
            <a:r>
              <a:rPr lang="fr-FR" sz="1400" dirty="0"/>
              <a:t>- Empêcher l’utilisation des </a:t>
            </a:r>
            <a:r>
              <a:rPr lang="fr-FR" sz="1400" dirty="0" err="1"/>
              <a:t>wrappers</a:t>
            </a:r>
            <a:r>
              <a:rPr lang="fr-FR" sz="1400" dirty="0"/>
              <a:t> PHP (php://filter, php://input, data://, etc.).</a:t>
            </a:r>
          </a:p>
          <a:p>
            <a:r>
              <a:rPr lang="fr-FR" sz="1400" dirty="0"/>
              <a:t>- Bloquer toutes les tentatives de Directory </a:t>
            </a:r>
            <a:r>
              <a:rPr lang="fr-FR" sz="1400" dirty="0" err="1"/>
              <a:t>Traversal</a:t>
            </a:r>
            <a:r>
              <a:rPr lang="fr-FR" sz="1400" dirty="0"/>
              <a:t> (../, %2e%2e/, %c0%af, etc.).</a:t>
            </a:r>
          </a:p>
          <a:p>
            <a:r>
              <a:rPr lang="fr-FR" sz="1400" dirty="0"/>
              <a:t>- Toujours normaliser le chemin (ex. </a:t>
            </a:r>
            <a:r>
              <a:rPr lang="fr-FR" sz="1400" dirty="0" err="1"/>
              <a:t>realpath</a:t>
            </a:r>
            <a:r>
              <a:rPr lang="fr-FR" sz="1400" dirty="0"/>
              <a:t>()) avant d’inclure un fichier.</a:t>
            </a:r>
          </a:p>
          <a:p>
            <a:r>
              <a:rPr lang="fr-FR" sz="1400" dirty="0"/>
              <a:t>- Ne jamais stocker de mots de passe ou </a:t>
            </a:r>
            <a:r>
              <a:rPr lang="fr-FR" sz="1400" dirty="0" err="1"/>
              <a:t>credentials</a:t>
            </a:r>
            <a:r>
              <a:rPr lang="fr-FR" sz="1400" dirty="0"/>
              <a:t> dans un fichier accessible via le web.</a:t>
            </a:r>
          </a:p>
          <a:p>
            <a:r>
              <a:rPr lang="fr-FR" sz="1400" dirty="0"/>
              <a:t>- Déplacer les fichiers sensibles hors du </a:t>
            </a:r>
            <a:r>
              <a:rPr lang="fr-FR" sz="1400" dirty="0" err="1"/>
              <a:t>webroot</a:t>
            </a:r>
            <a:r>
              <a:rPr lang="fr-FR" sz="1400" dirty="0"/>
              <a:t>.</a:t>
            </a:r>
          </a:p>
          <a:p>
            <a:r>
              <a:rPr lang="fr-FR" sz="1400" dirty="0"/>
              <a:t>- Désactiver </a:t>
            </a:r>
            <a:r>
              <a:rPr lang="fr-FR" sz="1400" dirty="0" err="1"/>
              <a:t>allow_url_include</a:t>
            </a:r>
            <a:r>
              <a:rPr lang="fr-FR" sz="1400" dirty="0"/>
              <a:t> dans php.ini.</a:t>
            </a:r>
          </a:p>
          <a:p>
            <a:r>
              <a:rPr lang="fr-FR" sz="1400" dirty="0"/>
              <a:t>- Utiliser un </a:t>
            </a:r>
            <a:r>
              <a:rPr lang="fr-FR" sz="1400" dirty="0" err="1"/>
              <a:t>framework</a:t>
            </a:r>
            <a:r>
              <a:rPr lang="fr-FR" sz="1400" dirty="0"/>
              <a:t> moderne (</a:t>
            </a:r>
            <a:r>
              <a:rPr lang="fr-FR" sz="1400" dirty="0" err="1"/>
              <a:t>Laravel</a:t>
            </a:r>
            <a:r>
              <a:rPr lang="fr-FR" sz="1400" dirty="0"/>
              <a:t>/Symfony) qui empêche les </a:t>
            </a:r>
            <a:r>
              <a:rPr lang="fr-FR" sz="1400" dirty="0" err="1"/>
              <a:t>includes</a:t>
            </a:r>
            <a:r>
              <a:rPr lang="fr-FR" sz="1400" dirty="0"/>
              <a:t> dynamiques dangereux.</a:t>
            </a:r>
          </a:p>
          <a:p>
            <a:r>
              <a:rPr lang="fr-FR" sz="1400" dirty="0"/>
              <a:t>- Restreindre les permissions du serveur : l’utilisateur du serveur web ne doit pas lire des fichiers sensibles.</a:t>
            </a:r>
          </a:p>
          <a:p>
            <a:r>
              <a:rPr lang="fr-FR" sz="1400" dirty="0"/>
              <a:t>- Effectuer des revues de code et tests réguliers : LFI, RFI, </a:t>
            </a:r>
            <a:r>
              <a:rPr lang="fr-FR" sz="1400" dirty="0" err="1"/>
              <a:t>path</a:t>
            </a:r>
            <a:r>
              <a:rPr lang="fr-FR" sz="1400" dirty="0"/>
              <a:t> </a:t>
            </a:r>
            <a:r>
              <a:rPr lang="fr-FR" sz="1400" dirty="0" err="1"/>
              <a:t>traversal</a:t>
            </a:r>
            <a:r>
              <a:rPr lang="fr-FR" sz="1400" dirty="0"/>
              <a:t>, </a:t>
            </a:r>
            <a:r>
              <a:rPr lang="fr-FR" sz="1400" dirty="0" err="1"/>
              <a:t>wrappers</a:t>
            </a:r>
            <a:r>
              <a:rPr lang="fr-FR" sz="1400" dirty="0"/>
              <a:t> PHP.</a:t>
            </a:r>
          </a:p>
          <a:p>
            <a:pPr marL="285750" indent="-285750">
              <a:buFontTx/>
              <a:buChar char="-"/>
            </a:pPr>
            <a:endParaRPr lang="fr-FR" sz="1400" dirty="0"/>
          </a:p>
          <a:p>
            <a:r>
              <a:rPr lang="fr-FR" sz="1400" dirty="0"/>
              <a:t>Références</a:t>
            </a:r>
          </a:p>
          <a:p>
            <a:endParaRPr lang="fr-FR" sz="1400" dirty="0">
              <a:effectLst/>
            </a:endParaRPr>
          </a:p>
          <a:p>
            <a:r>
              <a:rPr lang="en-US" sz="1400" dirty="0">
                <a:effectLst/>
              </a:rPr>
              <a:t>OWASP Path Traversal</a:t>
            </a:r>
          </a:p>
          <a:p>
            <a:r>
              <a:rPr lang="en-US" sz="1400" dirty="0">
                <a:effectLst/>
              </a:rPr>
              <a:t>https://owasp.org/www-community/attacks/Path_Traversal</a:t>
            </a:r>
          </a:p>
          <a:p>
            <a:endParaRPr lang="en-US" sz="1400" dirty="0">
              <a:effectLst/>
            </a:endParaRPr>
          </a:p>
          <a:p>
            <a:r>
              <a:rPr lang="en-US" sz="1400" dirty="0">
                <a:effectLst/>
              </a:rPr>
              <a:t>PHP Wrappers Documentation</a:t>
            </a:r>
          </a:p>
          <a:p>
            <a:r>
              <a:rPr lang="en-US" sz="1400" dirty="0">
                <a:effectLst/>
              </a:rPr>
              <a:t>https://www.php.net/wrappers</a:t>
            </a:r>
            <a:endParaRPr lang="fr-FR" sz="1400" dirty="0">
              <a:effectLst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E8E6247-CAAE-9A0F-3F67-BBC26BD242A0}"/>
              </a:ext>
            </a:extLst>
          </p:cNvPr>
          <p:cNvSpPr txBox="1"/>
          <p:nvPr/>
        </p:nvSpPr>
        <p:spPr>
          <a:xfrm>
            <a:off x="424070" y="33584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rtl="0" eaLnBrk="1" latinLnBrk="0" hangingPunct="1">
              <a:buNone/>
            </a:pPr>
            <a:r>
              <a:rPr lang="fr-FR" sz="14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Recommandations pour prévenir les failles PHP-</a:t>
            </a:r>
            <a:r>
              <a:rPr lang="fr-FR" sz="1400" kern="1200" dirty="0" err="1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Filters</a:t>
            </a:r>
            <a:endParaRPr lang="fr-FR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0829976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C9E456B-F25C-35E2-E204-890CBA5DA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01" y="746263"/>
            <a:ext cx="7381875" cy="40005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FFE3D8E-C7D2-4EF7-F1CD-95308649A1EC}"/>
              </a:ext>
            </a:extLst>
          </p:cNvPr>
          <p:cNvSpPr txBox="1"/>
          <p:nvPr/>
        </p:nvSpPr>
        <p:spPr>
          <a:xfrm>
            <a:off x="377100" y="283122"/>
            <a:ext cx="84355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https://www.root-me.org/fr/Challenges/Web-Client/CSRF-contournement-de-jeton</a:t>
            </a:r>
            <a:endParaRPr lang="fr-FR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CA79B57-83B7-D08E-3783-95498E3FC23E}"/>
              </a:ext>
            </a:extLst>
          </p:cNvPr>
          <p:cNvSpPr txBox="1"/>
          <p:nvPr/>
        </p:nvSpPr>
        <p:spPr>
          <a:xfrm>
            <a:off x="510001" y="4840572"/>
            <a:ext cx="9594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0" i="0" u="none" strike="noStrike" baseline="0" dirty="0">
                <a:latin typeface="Arial" panose="020B0604020202020204" pitchFamily="34" charset="0"/>
              </a:rPr>
              <a:t>Après avoir créer un compte et aller sur le profile on voit que y’a un onglet contact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07488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CEEB8990-E4FC-DE78-AC79-EB2DA7CF0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53" y="440013"/>
            <a:ext cx="6678466" cy="438520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064E3440-8A50-721C-411F-46992FD01B19}"/>
              </a:ext>
            </a:extLst>
          </p:cNvPr>
          <p:cNvSpPr txBox="1"/>
          <p:nvPr/>
        </p:nvSpPr>
        <p:spPr>
          <a:xfrm>
            <a:off x="7209692" y="440013"/>
            <a:ext cx="492481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i="0" u="none" strike="noStrike" baseline="0" dirty="0">
                <a:latin typeface="Arial" panose="020B0604020202020204" pitchFamily="34" charset="0"/>
              </a:rPr>
              <a:t>Dans l’onglet contact on voi</a:t>
            </a:r>
            <a:r>
              <a:rPr lang="fr-FR" dirty="0">
                <a:latin typeface="Arial" panose="020B0604020202020204" pitchFamily="34" charset="0"/>
              </a:rPr>
              <a:t>t un champs commentaire qui peut potentiellement contenir une faille XSS</a:t>
            </a:r>
          </a:p>
          <a:p>
            <a:endParaRPr lang="fr-FR" dirty="0">
              <a:latin typeface="Arial" panose="020B0604020202020204" pitchFamily="34" charset="0"/>
            </a:endParaRPr>
          </a:p>
          <a:p>
            <a:r>
              <a:rPr lang="fr-FR" dirty="0">
                <a:latin typeface="Arial" panose="020B0604020202020204" pitchFamily="34" charset="0"/>
              </a:rPr>
              <a:t>Le but est de ce dire qu’un compte avec les permissions admin va forcément voir notre message et si ce champ comporte une faille XSS alors il est possible de récupérer </a:t>
            </a:r>
            <a:r>
              <a:rPr lang="fr-FR" dirty="0"/>
              <a:t>son </a:t>
            </a:r>
            <a:r>
              <a:rPr lang="fr-FR" dirty="0" err="1"/>
              <a:t>token</a:t>
            </a:r>
            <a:r>
              <a:rPr lang="fr-FR" dirty="0"/>
              <a:t> CSRF et d’exécuter des actions privilégiées en son nom, comme l’activation de notre compte.</a:t>
            </a:r>
          </a:p>
        </p:txBody>
      </p:sp>
    </p:spTree>
    <p:extLst>
      <p:ext uri="{BB962C8B-B14F-4D97-AF65-F5344CB8AC3E}">
        <p14:creationId xmlns:p14="http://schemas.microsoft.com/office/powerpoint/2010/main" val="1561368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915160D7-A0B0-1182-1C2E-64387400B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82" y="319610"/>
            <a:ext cx="5892692" cy="382332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707CEF99-5496-A39A-BE16-1A492373E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3692" y="2657166"/>
            <a:ext cx="6431221" cy="324098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62F4BBB-73AB-957D-0C95-C8D4872D6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82" y="4277656"/>
            <a:ext cx="4403128" cy="216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59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F08B0383-0CD0-3696-B5A4-A63D5976C8F7}"/>
              </a:ext>
            </a:extLst>
          </p:cNvPr>
          <p:cNvSpPr txBox="1"/>
          <p:nvPr/>
        </p:nvSpPr>
        <p:spPr>
          <a:xfrm>
            <a:off x="424070" y="705178"/>
            <a:ext cx="1115833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- Encoder/échapper systématiquement toutes les sorties utilisateur pour empêcher l’exécution de HTML/JS (protection XSS).</a:t>
            </a:r>
          </a:p>
          <a:p>
            <a:r>
              <a:rPr lang="fr-FR" sz="1200" dirty="0"/>
              <a:t>- Utiliser un </a:t>
            </a:r>
            <a:r>
              <a:rPr lang="fr-FR" sz="1200" dirty="0" err="1"/>
              <a:t>sanitizer</a:t>
            </a:r>
            <a:r>
              <a:rPr lang="fr-FR" sz="1200" dirty="0"/>
              <a:t> HTML (</a:t>
            </a:r>
            <a:r>
              <a:rPr lang="fr-FR" sz="1200" dirty="0" err="1"/>
              <a:t>DOMPurify</a:t>
            </a:r>
            <a:r>
              <a:rPr lang="fr-FR" sz="1200" dirty="0"/>
              <a:t>, </a:t>
            </a:r>
            <a:r>
              <a:rPr lang="fr-FR" sz="1200" dirty="0" err="1"/>
              <a:t>HTMLPurifier</a:t>
            </a:r>
            <a:r>
              <a:rPr lang="fr-FR" sz="1200" dirty="0"/>
              <a:t>) pour neutraliser les balises dangereuses dans les champs texte.</a:t>
            </a:r>
          </a:p>
          <a:p>
            <a:r>
              <a:rPr lang="fr-FR" sz="1200" dirty="0"/>
              <a:t>- Afficher les messages utilisateurs dans l’espace admin en mode texte brut (pas d’interprétation HTML).</a:t>
            </a:r>
          </a:p>
          <a:p>
            <a:r>
              <a:rPr lang="fr-FR" sz="1200" dirty="0"/>
              <a:t>- Mettre en place une Content-Security-Policy (CSP) stricte pour bloquer l’exécution de scripts </a:t>
            </a:r>
            <a:r>
              <a:rPr lang="fr-FR" sz="1200" dirty="0" err="1"/>
              <a:t>inline</a:t>
            </a:r>
            <a:r>
              <a:rPr lang="fr-FR" sz="1200" dirty="0"/>
              <a:t> et non autorisés.</a:t>
            </a:r>
          </a:p>
          <a:p>
            <a:r>
              <a:rPr lang="fr-FR" sz="1200" dirty="0"/>
              <a:t>- Interdire les attributs d’événements HTML (</a:t>
            </a:r>
            <a:r>
              <a:rPr lang="fr-FR" sz="1200" dirty="0" err="1"/>
              <a:t>onerror</a:t>
            </a:r>
            <a:r>
              <a:rPr lang="fr-FR" sz="1200" dirty="0"/>
              <a:t>, </a:t>
            </a:r>
            <a:r>
              <a:rPr lang="fr-FR" sz="1200" dirty="0" err="1"/>
              <a:t>onclick</a:t>
            </a:r>
            <a:r>
              <a:rPr lang="fr-FR" sz="1200" dirty="0"/>
              <a:t>, etc.) grâce à une CSP restrictive.</a:t>
            </a:r>
          </a:p>
          <a:p>
            <a:r>
              <a:rPr lang="fr-FR" sz="1200" dirty="0"/>
              <a:t>- Vérifier systématiquement les </a:t>
            </a:r>
            <a:r>
              <a:rPr lang="fr-FR" sz="1200" dirty="0" err="1"/>
              <a:t>tokens</a:t>
            </a:r>
            <a:r>
              <a:rPr lang="fr-FR" sz="1200" dirty="0"/>
              <a:t> CSRF côté serveur avant toute action sensible.</a:t>
            </a:r>
          </a:p>
          <a:p>
            <a:r>
              <a:rPr lang="fr-FR" sz="1200" dirty="0"/>
              <a:t>- Associer le </a:t>
            </a:r>
            <a:r>
              <a:rPr lang="fr-FR" sz="1200" dirty="0" err="1"/>
              <a:t>token</a:t>
            </a:r>
            <a:r>
              <a:rPr lang="fr-FR" sz="1200" dirty="0"/>
              <a:t> CSRF à la session utilisateur et le régénérer régulièrement.</a:t>
            </a:r>
          </a:p>
          <a:p>
            <a:r>
              <a:rPr lang="fr-FR" sz="1200" dirty="0"/>
              <a:t>- Refuser toute requête contenant un </a:t>
            </a:r>
            <a:r>
              <a:rPr lang="fr-FR" sz="1200" dirty="0" err="1"/>
              <a:t>token</a:t>
            </a:r>
            <a:r>
              <a:rPr lang="fr-FR" sz="1200" dirty="0"/>
              <a:t> CSRF absent, invalide ou provenant d’une autre session.</a:t>
            </a:r>
          </a:p>
          <a:p>
            <a:r>
              <a:rPr lang="fr-FR" sz="1200" dirty="0"/>
              <a:t>- Configurer les cookies de session avec les attributs </a:t>
            </a:r>
            <a:r>
              <a:rPr lang="fr-FR" sz="1200" dirty="0" err="1"/>
              <a:t>SameSite</a:t>
            </a:r>
            <a:r>
              <a:rPr lang="fr-FR" sz="1200" dirty="0"/>
              <a:t>=Strict, Secure et </a:t>
            </a:r>
            <a:r>
              <a:rPr lang="fr-FR" sz="1200" dirty="0" err="1"/>
              <a:t>HttpOnly</a:t>
            </a:r>
            <a:r>
              <a:rPr lang="fr-FR" sz="1200" dirty="0"/>
              <a:t> pour réduire les risques CSRF.</a:t>
            </a:r>
          </a:p>
          <a:p>
            <a:r>
              <a:rPr lang="fr-FR" sz="1200" dirty="0"/>
              <a:t>- Isoler strictement l’interface admin de l’interface utilisateur (séparation des rôles et des vues).</a:t>
            </a:r>
          </a:p>
          <a:p>
            <a:r>
              <a:rPr lang="fr-FR" sz="1200" dirty="0"/>
              <a:t>- Ne jamais afficher directement du contenu utilisateur dans le back-office sans nettoyage ou encodage.</a:t>
            </a:r>
          </a:p>
          <a:p>
            <a:r>
              <a:rPr lang="fr-FR" sz="1200" dirty="0"/>
              <a:t>- Appliquer une validation stricte des entrées côté serveur (whitelist, longueurs maximales, suppression des balises HTML non désirées).</a:t>
            </a:r>
          </a:p>
          <a:p>
            <a:r>
              <a:rPr lang="fr-FR" sz="1200" dirty="0"/>
              <a:t>- Bloquer explicitement les balises &lt;script&gt;, &lt;</a:t>
            </a:r>
            <a:r>
              <a:rPr lang="fr-FR" sz="1200" dirty="0" err="1"/>
              <a:t>img</a:t>
            </a:r>
            <a:r>
              <a:rPr lang="fr-FR" sz="1200" dirty="0"/>
              <a:t>&gt;, &lt;</a:t>
            </a:r>
            <a:r>
              <a:rPr lang="fr-FR" sz="1200" dirty="0" err="1"/>
              <a:t>iframe</a:t>
            </a:r>
            <a:r>
              <a:rPr lang="fr-FR" sz="1200" dirty="0"/>
              <a:t>&gt; et autres vecteurs d’exécution dans les champs texte.</a:t>
            </a:r>
          </a:p>
          <a:p>
            <a:r>
              <a:rPr lang="fr-FR" sz="1200" dirty="0"/>
              <a:t>- Implémenter une logique de modération qui empêche l’affichage de contenu HTML potentiellement malveillant dans l’espace admin.</a:t>
            </a:r>
          </a:p>
          <a:p>
            <a:endParaRPr lang="fr-FR" sz="1200" dirty="0"/>
          </a:p>
          <a:p>
            <a:r>
              <a:rPr lang="fr-FR" sz="1200" dirty="0"/>
              <a:t>Références</a:t>
            </a:r>
          </a:p>
          <a:p>
            <a:endParaRPr lang="fr-FR" sz="1200" dirty="0"/>
          </a:p>
          <a:p>
            <a:r>
              <a:rPr lang="en-US" sz="1200" dirty="0"/>
              <a:t>XSS Prevention Cheat Sheet</a:t>
            </a:r>
          </a:p>
          <a:p>
            <a:r>
              <a:rPr lang="en-US" sz="1200" dirty="0"/>
              <a:t>https://owasp.org/www-project-cheat-sheets/cheatsheets/Cross_Site_Scripting_Prevention_Cheat_Sheet.html</a:t>
            </a:r>
          </a:p>
          <a:p>
            <a:endParaRPr lang="en-US" sz="1200" dirty="0"/>
          </a:p>
          <a:p>
            <a:r>
              <a:rPr lang="en-US" sz="1200" dirty="0"/>
              <a:t>XSS Overview</a:t>
            </a:r>
          </a:p>
          <a:p>
            <a:r>
              <a:rPr lang="en-US" sz="1200" dirty="0"/>
              <a:t>https://owasp.org/www-community/attacks/xss/</a:t>
            </a:r>
          </a:p>
          <a:p>
            <a:endParaRPr lang="en-US" sz="1200" dirty="0"/>
          </a:p>
          <a:p>
            <a:r>
              <a:rPr lang="en-US" sz="1200" dirty="0"/>
              <a:t>CSRF Prevention Cheat Sheet</a:t>
            </a:r>
          </a:p>
          <a:p>
            <a:r>
              <a:rPr lang="en-US" sz="1200" dirty="0"/>
              <a:t>https://owasp.org/www-project-cheat-sheets/cheatsheets/Cross-Site_Request_Forgery_Prevention_Cheat_Sheet.html</a:t>
            </a:r>
          </a:p>
          <a:p>
            <a:endParaRPr lang="en-US" sz="1200" dirty="0"/>
          </a:p>
          <a:p>
            <a:r>
              <a:rPr lang="en-US" sz="1200" dirty="0"/>
              <a:t>CSRF Explanation</a:t>
            </a:r>
          </a:p>
          <a:p>
            <a:r>
              <a:rPr lang="en-US" sz="1200" dirty="0"/>
              <a:t>https://owasp.org/www-community/attacks/csrf</a:t>
            </a:r>
          </a:p>
          <a:p>
            <a:endParaRPr lang="en-US" sz="1200" dirty="0"/>
          </a:p>
          <a:p>
            <a:r>
              <a:rPr lang="en-US" sz="1200" dirty="0" err="1"/>
              <a:t>SameSite</a:t>
            </a:r>
            <a:r>
              <a:rPr lang="en-US" sz="1200" dirty="0"/>
              <a:t> Cookie Attribute</a:t>
            </a:r>
          </a:p>
          <a:p>
            <a:r>
              <a:rPr lang="en-US" sz="1200" dirty="0"/>
              <a:t>https://owasp.org/www-community/SameSite</a:t>
            </a:r>
            <a:endParaRPr lang="fr-FR" sz="12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8950E69-4D11-6169-6AA3-607717521658}"/>
              </a:ext>
            </a:extLst>
          </p:cNvPr>
          <p:cNvSpPr txBox="1"/>
          <p:nvPr/>
        </p:nvSpPr>
        <p:spPr>
          <a:xfrm>
            <a:off x="424070" y="335845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kern="12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+mn-ea"/>
                <a:cs typeface="+mn-cs"/>
              </a:rPr>
              <a:t>Recommandations pour prévenir les failles </a:t>
            </a:r>
            <a:r>
              <a:rPr lang="fr-FR" sz="1200" dirty="0"/>
              <a:t>CSRF-contournement-de-jeton</a:t>
            </a:r>
            <a:endParaRPr lang="fr-FR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1499042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1263</Words>
  <Application>Microsoft Office PowerPoint</Application>
  <PresentationFormat>Grand écran</PresentationFormat>
  <Paragraphs>116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18177</dc:creator>
  <cp:lastModifiedBy>18177</cp:lastModifiedBy>
  <cp:revision>6</cp:revision>
  <dcterms:created xsi:type="dcterms:W3CDTF">2025-12-02T09:24:30Z</dcterms:created>
  <dcterms:modified xsi:type="dcterms:W3CDTF">2025-12-03T11:25:04Z</dcterms:modified>
</cp:coreProperties>
</file>